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B111320F-DB17-4F20-8227-491E4AB5ABF1}">
          <p14:sldIdLst>
            <p14:sldId id="256"/>
          </p14:sldIdLst>
        </p14:section>
        <p14:section name="Раздел без заголовка" id="{DA21FA97-9CDA-4F94-9FB9-833830208BED}">
          <p14:sldIdLst>
            <p14:sldId id="257"/>
            <p14:sldId id="258"/>
            <p14:sldId id="259"/>
            <p14:sldId id="260"/>
            <p14:sldId id="261"/>
            <p14:sldId id="262"/>
            <p14:sldId id="263"/>
            <p14:sldId id="264"/>
            <p14:sldId id="265"/>
            <p14:sldId id="266"/>
            <p14:sldId id="267"/>
            <p14:sldId id="268"/>
            <p14:sldId id="269"/>
            <p14:sldId id="270"/>
            <p14:sldId id="27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89D1"/>
    <a:srgbClr val="E5E26D"/>
    <a:srgbClr val="DBD7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ru-RU" smtClean="0"/>
              <a:t>Образец заголовка</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26C0441-6AC1-4ED6-BE5A-356FB11AE75C}" type="datetimeFigureOut">
              <a:rPr lang="uk-UA" smtClean="0"/>
              <a:t>24.05.2020</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878608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ru-RU" smtClean="0"/>
              <a:t>Образец заголовка</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26C0441-6AC1-4ED6-BE5A-356FB11AE75C}" type="datetimeFigureOut">
              <a:rPr lang="uk-UA" smtClean="0"/>
              <a:t>24.05.2020</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1226517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ru-RU" smtClean="0"/>
              <a:t>Образец заголовка</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26C0441-6AC1-4ED6-BE5A-356FB11AE75C}" type="datetimeFigureOut">
              <a:rPr lang="uk-UA" smtClean="0"/>
              <a:t>24.05.2020</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2149700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ru-RU" smtClean="0"/>
              <a:t>Образец заголовка</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B26C0441-6AC1-4ED6-BE5A-356FB11AE75C}" type="datetimeFigureOut">
              <a:rPr lang="uk-UA" smtClean="0"/>
              <a:t>24.05.2020</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800152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2" name="Content Placeholder 3"/>
          <p:cNvSpPr>
            <a:spLocks noGrp="1"/>
          </p:cNvSpPr>
          <p:nvPr>
            <p:ph sz="quarter" idx="13"/>
          </p:nvPr>
        </p:nvSpPr>
        <p:spPr>
          <a:xfrm>
            <a:off x="913774" y="3051012"/>
            <a:ext cx="5106027" cy="2740187"/>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3" name="Content Placeholder 5"/>
          <p:cNvSpPr>
            <a:spLocks noGrp="1"/>
          </p:cNvSpPr>
          <p:nvPr>
            <p:ph sz="quarter" idx="14"/>
          </p:nvPr>
        </p:nvSpPr>
        <p:spPr>
          <a:xfrm>
            <a:off x="6172200" y="3051012"/>
            <a:ext cx="5105401" cy="2740187"/>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26C0441-6AC1-4ED6-BE5A-356FB11AE75C}" type="datetimeFigureOut">
              <a:rPr lang="uk-UA" smtClean="0"/>
              <a:t>24.05.2020</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4022682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B26C0441-6AC1-4ED6-BE5A-356FB11AE75C}" type="datetimeFigureOut">
              <a:rPr lang="uk-UA" smtClean="0"/>
              <a:t>24.05.2020</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509713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B26C0441-6AC1-4ED6-BE5A-356FB11AE75C}" type="datetimeFigureOut">
              <a:rPr lang="uk-UA" smtClean="0"/>
              <a:t>24.05.2020</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2630946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ru-RU" smtClean="0"/>
              <a:t>Образец заголовка</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26C0441-6AC1-4ED6-BE5A-356FB11AE75C}" type="datetimeFigureOut">
              <a:rPr lang="uk-UA" smtClean="0"/>
              <a:t>24.05.2020</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3527449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26C0441-6AC1-4ED6-BE5A-356FB11AE75C}" type="datetimeFigureOut">
              <a:rPr lang="uk-UA" smtClean="0"/>
              <a:t>24.05.2020</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1324726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26C0441-6AC1-4ED6-BE5A-356FB11AE75C}" type="datetimeFigureOut">
              <a:rPr lang="uk-UA" smtClean="0"/>
              <a:t>24.05.2020</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1835594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ru-RU" smtClean="0"/>
              <a:t>Образец заголовка</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26C0441-6AC1-4ED6-BE5A-356FB11AE75C}" type="datetimeFigureOut">
              <a:rPr lang="uk-UA" smtClean="0"/>
              <a:t>24.05.2020</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3913872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ru-RU" smtClean="0"/>
              <a:t>Образец заголовка</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26C0441-6AC1-4ED6-BE5A-356FB11AE75C}" type="datetimeFigureOut">
              <a:rPr lang="uk-UA" smtClean="0"/>
              <a:t>24.05.2020</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CDDE3F7-8255-4E47-82B6-05ED0491EE06}" type="slidenum">
              <a:rPr lang="uk-UA" smtClean="0"/>
              <a:t>‹#›</a:t>
            </a:fld>
            <a:endParaRPr lang="uk-UA"/>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8180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ru-RU" smtClean="0"/>
              <a:t>Образец заголовка</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p:txBody>
          <a:bodyPr/>
          <a:lstStyle/>
          <a:p>
            <a:fld id="{B26C0441-6AC1-4ED6-BE5A-356FB11AE75C}" type="datetimeFigureOut">
              <a:rPr lang="uk-UA" smtClean="0"/>
              <a:t>24.05.2020</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13249277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ru-RU" smtClean="0"/>
              <a:t>Образец заголовка</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3" name="Date Placeholder 2"/>
          <p:cNvSpPr>
            <a:spLocks noGrp="1"/>
          </p:cNvSpPr>
          <p:nvPr>
            <p:ph type="dt" sz="half" idx="10"/>
          </p:nvPr>
        </p:nvSpPr>
        <p:spPr/>
        <p:txBody>
          <a:bodyPr/>
          <a:lstStyle/>
          <a:p>
            <a:fld id="{B26C0441-6AC1-4ED6-BE5A-356FB11AE75C}" type="datetimeFigureOut">
              <a:rPr lang="uk-UA" smtClean="0"/>
              <a:t>24.05.2020</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182733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ru-RU" smtClean="0"/>
              <a:t>Образец заголовка</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3" name="Date Placeholder 2"/>
          <p:cNvSpPr>
            <a:spLocks noGrp="1"/>
          </p:cNvSpPr>
          <p:nvPr>
            <p:ph type="dt" sz="half" idx="10"/>
          </p:nvPr>
        </p:nvSpPr>
        <p:spPr/>
        <p:txBody>
          <a:bodyPr/>
          <a:lstStyle/>
          <a:p>
            <a:fld id="{B26C0441-6AC1-4ED6-BE5A-356FB11AE75C}" type="datetimeFigureOut">
              <a:rPr lang="uk-UA" smtClean="0"/>
              <a:t>24.05.2020</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2135871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ru-RU" smtClean="0"/>
              <a:t>Образец заголовка</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26C0441-6AC1-4ED6-BE5A-356FB11AE75C}" type="datetimeFigureOut">
              <a:rPr lang="uk-UA" smtClean="0"/>
              <a:t>24.05.2020</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2290777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ru-RU" smtClean="0"/>
              <a:t>Образец заголовка</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26C0441-6AC1-4ED6-BE5A-356FB11AE75C}" type="datetimeFigureOut">
              <a:rPr lang="uk-UA" smtClean="0"/>
              <a:t>24.05.2020</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5CDDE3F7-8255-4E47-82B6-05ED0491EE06}" type="slidenum">
              <a:rPr lang="uk-UA" smtClean="0"/>
              <a:t>‹#›</a:t>
            </a:fld>
            <a:endParaRPr lang="uk-UA"/>
          </a:p>
        </p:txBody>
      </p:sp>
    </p:spTree>
    <p:extLst>
      <p:ext uri="{BB962C8B-B14F-4D97-AF65-F5344CB8AC3E}">
        <p14:creationId xmlns:p14="http://schemas.microsoft.com/office/powerpoint/2010/main" val="356317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1000">
              <a:schemeClr val="accent4">
                <a:lumMod val="40000"/>
                <a:lumOff val="60000"/>
              </a:schemeClr>
            </a:gs>
            <a:gs pos="100000">
              <a:schemeClr val="accent6">
                <a:lumMod val="40000"/>
                <a:lumOff val="60000"/>
              </a:schemeClr>
            </a:gs>
          </a:gsLst>
          <a:lin ang="5400000" scaled="0"/>
          <a:tileRect/>
        </a:gradFill>
        <a:effectLst/>
      </p:bgPr>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B26C0441-6AC1-4ED6-BE5A-356FB11AE75C}" type="datetimeFigureOut">
              <a:rPr lang="uk-UA" smtClean="0"/>
              <a:t>24.05.2020</a:t>
            </a:fld>
            <a:endParaRPr lang="uk-UA"/>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uk-UA"/>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CDDE3F7-8255-4E47-82B6-05ED0491EE06}" type="slidenum">
              <a:rPr lang="uk-UA" smtClean="0"/>
              <a:t>‹#›</a:t>
            </a:fld>
            <a:endParaRPr lang="uk-UA"/>
          </a:p>
        </p:txBody>
      </p:sp>
    </p:spTree>
    <p:extLst>
      <p:ext uri="{BB962C8B-B14F-4D97-AF65-F5344CB8AC3E}">
        <p14:creationId xmlns:p14="http://schemas.microsoft.com/office/powerpoint/2010/main" val="3922591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одзаголовок 2"/>
          <p:cNvSpPr>
            <a:spLocks noGrp="1"/>
          </p:cNvSpPr>
          <p:nvPr>
            <p:ph type="subTitle" idx="1"/>
          </p:nvPr>
        </p:nvSpPr>
        <p:spPr>
          <a:xfrm>
            <a:off x="1751011" y="215659"/>
            <a:ext cx="9773879" cy="6288657"/>
          </a:xfrm>
        </p:spPr>
        <p:txBody>
          <a:bodyPr>
            <a:normAutofit/>
          </a:bodyPr>
          <a:lstStyle/>
          <a:p>
            <a:r>
              <a:rPr lang="ru-RU" sz="4300" b="1" dirty="0">
                <a:solidFill>
                  <a:schemeClr val="tx1"/>
                </a:solidFill>
                <a:latin typeface="Times New Roman" panose="02020603050405020304" pitchFamily="18" charset="0"/>
                <a:cs typeface="Times New Roman" panose="02020603050405020304" pitchFamily="18" charset="0"/>
              </a:rPr>
              <a:t>Інформаційна система бізнес-процесів </a:t>
            </a:r>
            <a:r>
              <a:rPr lang="ru-RU" sz="4300" b="1" dirty="0" smtClean="0">
                <a:solidFill>
                  <a:schemeClr val="tx1"/>
                </a:solidFill>
                <a:latin typeface="Times New Roman" panose="02020603050405020304" pitchFamily="18" charset="0"/>
                <a:cs typeface="Times New Roman" panose="02020603050405020304" pitchFamily="18" charset="0"/>
              </a:rPr>
              <a:t>ресторану</a:t>
            </a:r>
          </a:p>
          <a:p>
            <a:endParaRPr lang="ru-RU" b="1" dirty="0">
              <a:solidFill>
                <a:schemeClr val="tx1"/>
              </a:solidFill>
              <a:latin typeface="Times New Roman" panose="02020603050405020304" pitchFamily="18" charset="0"/>
              <a:cs typeface="Times New Roman" panose="02020603050405020304" pitchFamily="18" charset="0"/>
            </a:endParaRPr>
          </a:p>
          <a:p>
            <a:endParaRPr lang="ru-RU" b="1" dirty="0" smtClean="0">
              <a:solidFill>
                <a:schemeClr val="tx1"/>
              </a:solidFill>
              <a:latin typeface="Times New Roman" panose="02020603050405020304" pitchFamily="18" charset="0"/>
              <a:cs typeface="Times New Roman" panose="02020603050405020304" pitchFamily="18" charset="0"/>
            </a:endParaRPr>
          </a:p>
          <a:p>
            <a:endParaRPr lang="ru-RU" b="1" dirty="0">
              <a:solidFill>
                <a:schemeClr val="tx1"/>
              </a:solidFill>
              <a:latin typeface="Times New Roman" panose="02020603050405020304" pitchFamily="18" charset="0"/>
              <a:cs typeface="Times New Roman" panose="02020603050405020304" pitchFamily="18" charset="0"/>
            </a:endParaRPr>
          </a:p>
          <a:p>
            <a:pPr algn="r"/>
            <a:r>
              <a:rPr lang="uk-UA" b="1" dirty="0" smtClean="0">
                <a:solidFill>
                  <a:schemeClr val="tx1"/>
                </a:solidFill>
                <a:latin typeface="Times New Roman" panose="02020603050405020304" pitchFamily="18" charset="0"/>
                <a:cs typeface="Times New Roman" panose="02020603050405020304" pitchFamily="18" charset="0"/>
              </a:rPr>
              <a:t>Виконавець:</a:t>
            </a:r>
            <a:endParaRPr lang="uk-UA" dirty="0" smtClean="0">
              <a:solidFill>
                <a:schemeClr val="tx1"/>
              </a:solidFill>
              <a:latin typeface="Times New Roman" panose="02020603050405020304" pitchFamily="18" charset="0"/>
              <a:cs typeface="Times New Roman" panose="02020603050405020304" pitchFamily="18" charset="0"/>
            </a:endParaRPr>
          </a:p>
          <a:p>
            <a:pPr algn="r"/>
            <a:r>
              <a:rPr lang="uk-UA" dirty="0" smtClean="0">
                <a:solidFill>
                  <a:schemeClr val="tx1"/>
                </a:solidFill>
                <a:latin typeface="Times New Roman" panose="02020603050405020304" pitchFamily="18" charset="0"/>
                <a:cs typeface="Times New Roman" panose="02020603050405020304" pitchFamily="18" charset="0"/>
              </a:rPr>
              <a:t>студентка групи УФЕ-31с</a:t>
            </a:r>
          </a:p>
          <a:p>
            <a:pPr algn="r"/>
            <a:r>
              <a:rPr lang="uk-UA" dirty="0" smtClean="0">
                <a:solidFill>
                  <a:schemeClr val="tx1"/>
                </a:solidFill>
                <a:latin typeface="Times New Roman" panose="02020603050405020304" pitchFamily="18" charset="0"/>
                <a:cs typeface="Times New Roman" panose="02020603050405020304" pitchFamily="18" charset="0"/>
              </a:rPr>
              <a:t>Вовкун </a:t>
            </a:r>
            <a:r>
              <a:rPr lang="uk-UA" dirty="0">
                <a:solidFill>
                  <a:schemeClr val="tx1"/>
                </a:solidFill>
                <a:latin typeface="Times New Roman" panose="02020603050405020304" pitchFamily="18" charset="0"/>
                <a:cs typeface="Times New Roman" panose="02020603050405020304" pitchFamily="18" charset="0"/>
              </a:rPr>
              <a:t>С. Т</a:t>
            </a:r>
            <a:r>
              <a:rPr lang="uk-UA" dirty="0" smtClean="0">
                <a:solidFill>
                  <a:schemeClr val="tx1"/>
                </a:solidFill>
                <a:latin typeface="Times New Roman" panose="02020603050405020304" pitchFamily="18" charset="0"/>
                <a:cs typeface="Times New Roman" panose="02020603050405020304" pitchFamily="18" charset="0"/>
              </a:rPr>
              <a:t>.</a:t>
            </a:r>
          </a:p>
          <a:p>
            <a:pPr algn="r"/>
            <a:r>
              <a:rPr lang="uk-UA" b="1" dirty="0">
                <a:solidFill>
                  <a:schemeClr val="tx1"/>
                </a:solidFill>
                <a:latin typeface="Times New Roman" panose="02020603050405020304" pitchFamily="18" charset="0"/>
                <a:cs typeface="Times New Roman" panose="02020603050405020304" pitchFamily="18" charset="0"/>
              </a:rPr>
              <a:t>Науковий керівник</a:t>
            </a:r>
            <a:r>
              <a:rPr lang="uk-UA" b="1" dirty="0" smtClean="0">
                <a:solidFill>
                  <a:schemeClr val="tx1"/>
                </a:solidFill>
                <a:latin typeface="Times New Roman" panose="02020603050405020304" pitchFamily="18" charset="0"/>
                <a:cs typeface="Times New Roman" panose="02020603050405020304" pitchFamily="18" charset="0"/>
              </a:rPr>
              <a:t>:</a:t>
            </a:r>
          </a:p>
          <a:p>
            <a:pPr algn="r"/>
            <a:r>
              <a:rPr lang="uk-UA" dirty="0">
                <a:solidFill>
                  <a:schemeClr val="tx1"/>
                </a:solidFill>
                <a:latin typeface="Times New Roman" panose="02020603050405020304" pitchFamily="18" charset="0"/>
                <a:cs typeface="Times New Roman" panose="02020603050405020304" pitchFamily="18" charset="0"/>
              </a:rPr>
              <a:t>к.е.н, доц- Ярема О. Р.</a:t>
            </a:r>
            <a:r>
              <a:rPr lang="uk-UA" b="1" dirty="0" smtClean="0">
                <a:solidFill>
                  <a:schemeClr val="tx1"/>
                </a:solidFill>
                <a:latin typeface="Times New Roman" panose="02020603050405020304" pitchFamily="18" charset="0"/>
                <a:cs typeface="Times New Roman" panose="02020603050405020304" pitchFamily="18" charset="0"/>
              </a:rPr>
              <a:t> </a:t>
            </a:r>
            <a:endParaRPr lang="uk-UA"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4296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112143" y="254773"/>
            <a:ext cx="3036499" cy="1272102"/>
          </a:xfrm>
          <a:prstGeom prst="ellipse">
            <a:avLst/>
          </a:prstGeom>
          <a:solidFill>
            <a:schemeClr val="bg2">
              <a:lumMod val="40000"/>
              <a:lumOff val="60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000" b="1" i="1" dirty="0">
                <a:solidFill>
                  <a:schemeClr val="tx1"/>
                </a:solidFill>
                <a:latin typeface="Times New Roman" panose="02020603050405020304" pitchFamily="18" charset="0"/>
                <a:cs typeface="Times New Roman" panose="02020603050405020304" pitchFamily="18" charset="0"/>
              </a:rPr>
              <a:t>Актуальність теми дослідження</a:t>
            </a:r>
          </a:p>
        </p:txBody>
      </p:sp>
      <p:sp>
        <p:nvSpPr>
          <p:cNvPr id="5" name="Скругленный прямоугольник 4"/>
          <p:cNvSpPr/>
          <p:nvPr/>
        </p:nvSpPr>
        <p:spPr>
          <a:xfrm>
            <a:off x="3755246" y="254774"/>
            <a:ext cx="6478438" cy="1630391"/>
          </a:xfrm>
          <a:prstGeom prst="roundRect">
            <a:avLst/>
          </a:prstGeom>
          <a:solidFill>
            <a:schemeClr val="accent3">
              <a:lumMod val="40000"/>
              <a:lumOff val="60000"/>
            </a:schemeClr>
          </a:solid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b="1" i="1" dirty="0" smtClean="0">
                <a:solidFill>
                  <a:schemeClr val="tx1"/>
                </a:solidFill>
                <a:latin typeface="Times New Roman" panose="02020603050405020304" pitchFamily="18" charset="0"/>
                <a:cs typeface="Times New Roman" panose="02020603050405020304" pitchFamily="18" charset="0"/>
              </a:rPr>
              <a:t>Збільшення </a:t>
            </a:r>
            <a:r>
              <a:rPr lang="uk-UA" b="1" i="1" dirty="0">
                <a:solidFill>
                  <a:schemeClr val="tx1"/>
                </a:solidFill>
                <a:latin typeface="Times New Roman" panose="02020603050405020304" pitchFamily="18" charset="0"/>
                <a:cs typeface="Times New Roman" panose="02020603050405020304" pitchFamily="18" charset="0"/>
              </a:rPr>
              <a:t>вимог клієнтів щодо якості та формату ресторанних закладів, потребує підвищення якості та швидкості обслуговування, що може бути забезпечено за допомогою автоматизації діяльності.</a:t>
            </a:r>
          </a:p>
        </p:txBody>
      </p:sp>
      <p:sp>
        <p:nvSpPr>
          <p:cNvPr id="6" name="Овал 5"/>
          <p:cNvSpPr/>
          <p:nvPr/>
        </p:nvSpPr>
        <p:spPr>
          <a:xfrm>
            <a:off x="112143" y="2234535"/>
            <a:ext cx="3036499" cy="1319547"/>
          </a:xfrm>
          <a:prstGeom prst="ellipse">
            <a:avLst/>
          </a:prstGeom>
          <a:solidFill>
            <a:schemeClr val="tx2">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000" b="1" i="1" dirty="0" smtClean="0">
                <a:solidFill>
                  <a:schemeClr val="tx1"/>
                </a:solidFill>
                <a:latin typeface="Times New Roman" panose="02020603050405020304" pitchFamily="18" charset="0"/>
                <a:cs typeface="Times New Roman" panose="02020603050405020304" pitchFamily="18" charset="0"/>
              </a:rPr>
              <a:t>Мета дослідження</a:t>
            </a:r>
            <a:endParaRPr lang="uk-UA" sz="2000" dirty="0">
              <a:solidFill>
                <a:schemeClr val="tx1"/>
              </a:solidFill>
              <a:latin typeface="Times New Roman" panose="02020603050405020304" pitchFamily="18" charset="0"/>
              <a:cs typeface="Times New Roman" panose="02020603050405020304" pitchFamily="18" charset="0"/>
            </a:endParaRPr>
          </a:p>
        </p:txBody>
      </p:sp>
      <p:sp>
        <p:nvSpPr>
          <p:cNvPr id="7" name="Скругленный прямоугольник 6"/>
          <p:cNvSpPr/>
          <p:nvPr/>
        </p:nvSpPr>
        <p:spPr>
          <a:xfrm>
            <a:off x="3755246" y="2234535"/>
            <a:ext cx="3321170" cy="1509623"/>
          </a:xfrm>
          <a:prstGeom prst="roundRect">
            <a:avLst/>
          </a:prstGeom>
          <a:solidFill>
            <a:srgbClr val="E5E26D"/>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b="1" i="1" dirty="0">
                <a:solidFill>
                  <a:schemeClr val="tx1"/>
                </a:solidFill>
                <a:latin typeface="Times New Roman" panose="02020603050405020304" pitchFamily="18" charset="0"/>
                <a:cs typeface="Times New Roman" panose="02020603050405020304" pitchFamily="18" charset="0"/>
              </a:rPr>
              <a:t>Створення автоматизованої системи управління діяльності ресторанного закладу.</a:t>
            </a:r>
          </a:p>
        </p:txBody>
      </p:sp>
      <p:sp>
        <p:nvSpPr>
          <p:cNvPr id="9" name="Овал 8"/>
          <p:cNvSpPr/>
          <p:nvPr/>
        </p:nvSpPr>
        <p:spPr>
          <a:xfrm>
            <a:off x="112142" y="4244490"/>
            <a:ext cx="3036499" cy="13195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000" b="1" i="1" dirty="0">
                <a:solidFill>
                  <a:schemeClr val="tx1"/>
                </a:solidFill>
                <a:latin typeface="Times New Roman" panose="02020603050405020304" pitchFamily="18" charset="0"/>
                <a:cs typeface="Times New Roman" panose="02020603050405020304" pitchFamily="18" charset="0"/>
              </a:rPr>
              <a:t>Завдання дослідження</a:t>
            </a:r>
          </a:p>
        </p:txBody>
      </p:sp>
      <p:sp>
        <p:nvSpPr>
          <p:cNvPr id="13" name="Скругленный прямоугольник 12"/>
          <p:cNvSpPr/>
          <p:nvPr/>
        </p:nvSpPr>
        <p:spPr>
          <a:xfrm>
            <a:off x="3755246" y="4093528"/>
            <a:ext cx="8091577" cy="1690485"/>
          </a:xfrm>
          <a:prstGeom prst="roundRect">
            <a:avLst/>
          </a:prstGeom>
          <a:solidFill>
            <a:schemeClr val="accent1">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Courier New" panose="02070309020205020404" pitchFamily="49" charset="0"/>
              <a:buChar char="o"/>
            </a:pPr>
            <a:r>
              <a:rPr lang="uk-UA" b="1" i="1" dirty="0">
                <a:solidFill>
                  <a:schemeClr val="tx1"/>
                </a:solidFill>
                <a:latin typeface="Times New Roman" panose="02020603050405020304" pitchFamily="18" charset="0"/>
                <a:cs typeface="Times New Roman" panose="02020603050405020304" pitchFamily="18" charset="0"/>
              </a:rPr>
              <a:t>визначити особливості бізнес-процесів </a:t>
            </a:r>
            <a:r>
              <a:rPr lang="uk-UA" b="1" i="1" dirty="0" err="1">
                <a:solidFill>
                  <a:schemeClr val="tx1"/>
                </a:solidFill>
                <a:latin typeface="Times New Roman" panose="02020603050405020304" pitchFamily="18" charset="0"/>
                <a:cs typeface="Times New Roman" panose="02020603050405020304" pitchFamily="18" charset="0"/>
              </a:rPr>
              <a:t>субʼєктів</a:t>
            </a:r>
            <a:r>
              <a:rPr lang="uk-UA" b="1" i="1" dirty="0">
                <a:solidFill>
                  <a:schemeClr val="tx1"/>
                </a:solidFill>
                <a:latin typeface="Times New Roman" panose="02020603050405020304" pitchFamily="18" charset="0"/>
                <a:cs typeface="Times New Roman" panose="02020603050405020304" pitchFamily="18" charset="0"/>
              </a:rPr>
              <a:t> </a:t>
            </a:r>
            <a:r>
              <a:rPr lang="uk-UA" b="1" i="1" dirty="0">
                <a:solidFill>
                  <a:schemeClr val="tx1"/>
                </a:solidFill>
                <a:latin typeface="Times New Roman" panose="02020603050405020304" pitchFamily="18" charset="0"/>
                <a:cs typeface="Times New Roman" panose="02020603050405020304" pitchFamily="18" charset="0"/>
              </a:rPr>
              <a:t>ресторанного бізнесу;</a:t>
            </a:r>
          </a:p>
          <a:p>
            <a:pPr marL="285750" lvl="0" indent="-285750" algn="just" fontAlgn="base">
              <a:buFont typeface="Courier New" panose="02070309020205020404" pitchFamily="49" charset="0"/>
              <a:buChar char="o"/>
            </a:pPr>
            <a:r>
              <a:rPr lang="uk-UA" b="1" i="1" dirty="0">
                <a:solidFill>
                  <a:schemeClr val="tx1"/>
                </a:solidFill>
                <a:latin typeface="Times New Roman" panose="02020603050405020304" pitchFamily="18" charset="0"/>
                <a:cs typeface="Times New Roman" panose="02020603050405020304" pitchFamily="18" charset="0"/>
              </a:rPr>
              <a:t>визначити можливості та вимоги до автоматизації бізнес-процесів;</a:t>
            </a:r>
          </a:p>
          <a:p>
            <a:pPr marL="285750" lvl="0" indent="-285750" algn="just" fontAlgn="base">
              <a:buFont typeface="Courier New" panose="02070309020205020404" pitchFamily="49" charset="0"/>
              <a:buChar char="o"/>
            </a:pPr>
            <a:r>
              <a:rPr lang="uk-UA" b="1" i="1" dirty="0">
                <a:solidFill>
                  <a:schemeClr val="tx1"/>
                </a:solidFill>
                <a:latin typeface="Times New Roman" panose="02020603050405020304" pitchFamily="18" charset="0"/>
                <a:cs typeface="Times New Roman" panose="02020603050405020304" pitchFamily="18" charset="0"/>
              </a:rPr>
              <a:t>сформулювати алгоритм вирішення задачі роботи ресторанної </a:t>
            </a:r>
            <a:r>
              <a:rPr lang="uk-UA" b="1" i="1" dirty="0" err="1">
                <a:solidFill>
                  <a:schemeClr val="tx1"/>
                </a:solidFill>
                <a:latin typeface="Times New Roman" panose="02020603050405020304" pitchFamily="18" charset="0"/>
                <a:cs typeface="Times New Roman" panose="02020603050405020304" pitchFamily="18" charset="0"/>
              </a:rPr>
              <a:t>мережi</a:t>
            </a:r>
            <a:r>
              <a:rPr lang="uk-UA" b="1" i="1" dirty="0">
                <a:solidFill>
                  <a:schemeClr val="tx1"/>
                </a:solidFill>
                <a:latin typeface="Times New Roman" panose="02020603050405020304" pitchFamily="18" charset="0"/>
                <a:cs typeface="Times New Roman" panose="02020603050405020304" pitchFamily="18" charset="0"/>
              </a:rPr>
              <a:t>;</a:t>
            </a:r>
          </a:p>
          <a:p>
            <a:pPr marL="285750" lvl="0" indent="-285750" algn="just" fontAlgn="base">
              <a:buFont typeface="Courier New" panose="02070309020205020404" pitchFamily="49" charset="0"/>
              <a:buChar char="o"/>
            </a:pPr>
            <a:r>
              <a:rPr lang="uk-UA" b="1" i="1" dirty="0">
                <a:solidFill>
                  <a:schemeClr val="tx1"/>
                </a:solidFill>
                <a:latin typeface="Times New Roman" panose="02020603050405020304" pitchFamily="18" charset="0"/>
                <a:cs typeface="Times New Roman" panose="02020603050405020304" pitchFamily="18" charset="0"/>
              </a:rPr>
              <a:t>вибір архітектури та технології автоматизованої системи;</a:t>
            </a:r>
          </a:p>
          <a:p>
            <a:pPr marL="285750" lvl="0" indent="-285750" algn="just" fontAlgn="base">
              <a:buFont typeface="Courier New" panose="02070309020205020404" pitchFamily="49" charset="0"/>
              <a:buChar char="o"/>
            </a:pPr>
            <a:r>
              <a:rPr lang="uk-UA" b="1" i="1" dirty="0">
                <a:solidFill>
                  <a:schemeClr val="tx1"/>
                </a:solidFill>
                <a:latin typeface="Times New Roman" panose="02020603050405020304" pitchFamily="18" charset="0"/>
                <a:cs typeface="Times New Roman" panose="02020603050405020304" pitchFamily="18" charset="0"/>
              </a:rPr>
              <a:t>підбір програмного та апаратного забезпечення</a:t>
            </a:r>
            <a:r>
              <a:rPr lang="uk-UA" b="1" i="1" dirty="0" smtClean="0">
                <a:solidFill>
                  <a:schemeClr val="tx1"/>
                </a:solidFill>
                <a:latin typeface="Times New Roman" panose="02020603050405020304" pitchFamily="18" charset="0"/>
                <a:cs typeface="Times New Roman" panose="02020603050405020304" pitchFamily="18" charset="0"/>
              </a:rPr>
              <a:t>.</a:t>
            </a:r>
            <a:endParaRPr lang="uk-UA"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7981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129396" y="135147"/>
            <a:ext cx="2725947" cy="1207698"/>
          </a:xfrm>
          <a:prstGeom prst="ellipse">
            <a:avLst/>
          </a:prstGeom>
          <a:solidFill>
            <a:schemeClr val="accent5">
              <a:lumMod val="40000"/>
              <a:lumOff val="6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000" b="1" i="1" dirty="0">
                <a:solidFill>
                  <a:schemeClr val="tx1"/>
                </a:solidFill>
                <a:latin typeface="Times New Roman" panose="02020603050405020304" pitchFamily="18" charset="0"/>
                <a:cs typeface="Times New Roman" panose="02020603050405020304" pitchFamily="18" charset="0"/>
              </a:rPr>
              <a:t>Об’єкт дослідження </a:t>
            </a:r>
          </a:p>
        </p:txBody>
      </p:sp>
      <p:sp>
        <p:nvSpPr>
          <p:cNvPr id="5" name="Скругленный прямоугольник 4"/>
          <p:cNvSpPr/>
          <p:nvPr/>
        </p:nvSpPr>
        <p:spPr>
          <a:xfrm>
            <a:off x="3079630" y="690113"/>
            <a:ext cx="3735238" cy="948906"/>
          </a:xfrm>
          <a:prstGeom prst="roundRect">
            <a:avLst/>
          </a:prstGeom>
          <a:solidFill>
            <a:schemeClr val="tx2">
              <a:lumMod val="20000"/>
              <a:lumOff val="8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b="1" i="1" dirty="0" smtClean="0">
                <a:solidFill>
                  <a:schemeClr val="tx1"/>
                </a:solidFill>
              </a:rPr>
              <a:t>Сукупність операційних процесів ресторанної мережі. </a:t>
            </a:r>
            <a:endParaRPr lang="uk-UA" b="1" i="1" dirty="0">
              <a:solidFill>
                <a:schemeClr val="tx1"/>
              </a:solidFill>
            </a:endParaRPr>
          </a:p>
        </p:txBody>
      </p:sp>
      <p:sp>
        <p:nvSpPr>
          <p:cNvPr id="6" name="Овал 5"/>
          <p:cNvSpPr/>
          <p:nvPr/>
        </p:nvSpPr>
        <p:spPr>
          <a:xfrm>
            <a:off x="129395" y="2254371"/>
            <a:ext cx="2725947" cy="1207698"/>
          </a:xfrm>
          <a:prstGeom prst="ellipse">
            <a:avLst/>
          </a:prstGeom>
          <a:solidFill>
            <a:schemeClr val="accent2">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000" b="1" i="1" dirty="0" smtClean="0">
                <a:solidFill>
                  <a:schemeClr val="tx1"/>
                </a:solidFill>
                <a:latin typeface="Times New Roman" panose="02020603050405020304" pitchFamily="18" charset="0"/>
                <a:cs typeface="Times New Roman" panose="02020603050405020304" pitchFamily="18" charset="0"/>
              </a:rPr>
              <a:t>Предмет дослідження </a:t>
            </a:r>
            <a:endParaRPr lang="uk-UA" sz="2000" b="1" i="1" dirty="0">
              <a:solidFill>
                <a:schemeClr val="tx1"/>
              </a:solidFill>
              <a:latin typeface="Times New Roman" panose="02020603050405020304" pitchFamily="18" charset="0"/>
              <a:cs typeface="Times New Roman" panose="02020603050405020304" pitchFamily="18" charset="0"/>
            </a:endParaRPr>
          </a:p>
        </p:txBody>
      </p:sp>
      <p:sp>
        <p:nvSpPr>
          <p:cNvPr id="7" name="Скругленный прямоугольник 6"/>
          <p:cNvSpPr/>
          <p:nvPr/>
        </p:nvSpPr>
        <p:spPr>
          <a:xfrm>
            <a:off x="3079630" y="2987616"/>
            <a:ext cx="4129179" cy="948906"/>
          </a:xfrm>
          <a:prstGeom prst="roundRect">
            <a:avLst/>
          </a:prstGeom>
          <a:solidFill>
            <a:schemeClr val="accent4">
              <a:lumMod val="60000"/>
              <a:lumOff val="4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b="1" i="1" dirty="0" smtClean="0">
                <a:solidFill>
                  <a:schemeClr val="tx1"/>
                </a:solidFill>
              </a:rPr>
              <a:t>Сукупність </a:t>
            </a:r>
            <a:r>
              <a:rPr lang="uk-UA" b="1" i="1" dirty="0">
                <a:solidFill>
                  <a:schemeClr val="tx1"/>
                </a:solidFill>
              </a:rPr>
              <a:t>теоретичних, методичних та практичних аспектів бізнес-процесів ресторану.</a:t>
            </a:r>
          </a:p>
        </p:txBody>
      </p:sp>
      <p:sp>
        <p:nvSpPr>
          <p:cNvPr id="9" name="Овал 8"/>
          <p:cNvSpPr/>
          <p:nvPr/>
        </p:nvSpPr>
        <p:spPr>
          <a:xfrm>
            <a:off x="129394" y="4169435"/>
            <a:ext cx="2725947" cy="1144438"/>
          </a:xfrm>
          <a:prstGeom prst="ellipse">
            <a:avLst/>
          </a:prstGeom>
          <a:solidFill>
            <a:schemeClr val="accent6">
              <a:lumMod val="40000"/>
              <a:lumOff val="60000"/>
            </a:scheme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000" b="1" i="1" dirty="0">
                <a:solidFill>
                  <a:schemeClr val="tx1"/>
                </a:solidFill>
                <a:latin typeface="Times New Roman" panose="02020603050405020304" pitchFamily="18" charset="0"/>
                <a:cs typeface="Times New Roman" panose="02020603050405020304" pitchFamily="18" charset="0"/>
              </a:rPr>
              <a:t>Використане програмне забезпечення</a:t>
            </a:r>
          </a:p>
        </p:txBody>
      </p:sp>
      <p:sp>
        <p:nvSpPr>
          <p:cNvPr id="10" name="Скругленный прямоугольник 9"/>
          <p:cNvSpPr/>
          <p:nvPr/>
        </p:nvSpPr>
        <p:spPr>
          <a:xfrm>
            <a:off x="3079630" y="4925683"/>
            <a:ext cx="4129179" cy="836762"/>
          </a:xfrm>
          <a:prstGeom prst="roundRect">
            <a:avLst/>
          </a:prstGeom>
          <a:solidFill>
            <a:schemeClr val="accent3">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dirty="0"/>
              <a:t>Б</a:t>
            </a:r>
            <a:r>
              <a:rPr lang="uk-UA" dirty="0" smtClean="0"/>
              <a:t>аза </a:t>
            </a:r>
            <a:r>
              <a:rPr lang="uk-UA" dirty="0"/>
              <a:t>даних як частину </a:t>
            </a:r>
            <a:r>
              <a:rPr lang="uk-UA" dirty="0" err="1"/>
              <a:t>Backend</a:t>
            </a:r>
            <a:r>
              <a:rPr lang="uk-UA" dirty="0"/>
              <a:t>-у для веб-сайту</a:t>
            </a:r>
            <a:r>
              <a:rPr lang="uk-UA" dirty="0" smtClean="0"/>
              <a:t>.</a:t>
            </a:r>
            <a:endParaRPr lang="uk-UA" dirty="0"/>
          </a:p>
        </p:txBody>
      </p:sp>
    </p:spTree>
    <p:extLst>
      <p:ext uri="{BB962C8B-B14F-4D97-AF65-F5344CB8AC3E}">
        <p14:creationId xmlns:p14="http://schemas.microsoft.com/office/powerpoint/2010/main" val="3317186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1199073" y="155276"/>
            <a:ext cx="9558068" cy="1492370"/>
          </a:xfrm>
          <a:prstGeom prst="ellipse">
            <a:avLst/>
          </a:prstGeom>
          <a:solidFill>
            <a:schemeClr val="tx2">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800" b="1" dirty="0">
                <a:solidFill>
                  <a:srgbClr val="FF0000"/>
                </a:solidFill>
                <a:latin typeface="Times New Roman" panose="02020603050405020304" pitchFamily="18" charset="0"/>
                <a:cs typeface="Times New Roman" panose="02020603050405020304" pitchFamily="18" charset="0"/>
              </a:rPr>
              <a:t>РОЗДІЛ 1.ІНФОРМАЦІЙНА СИСТЕМА БІЗНЕС-ПРОЦЕСІВ </a:t>
            </a:r>
            <a:r>
              <a:rPr lang="uk-UA" sz="2800" b="1" dirty="0" smtClean="0">
                <a:solidFill>
                  <a:srgbClr val="FF0000"/>
                </a:solidFill>
                <a:latin typeface="Times New Roman" panose="02020603050405020304" pitchFamily="18" charset="0"/>
                <a:cs typeface="Times New Roman" panose="02020603050405020304" pitchFamily="18" charset="0"/>
              </a:rPr>
              <a:t>РЕСТОРАНУ</a:t>
            </a:r>
            <a:endParaRPr lang="uk-UA" sz="2800" b="1" dirty="0">
              <a:solidFill>
                <a:srgbClr val="FF0000"/>
              </a:solidFill>
              <a:latin typeface="Times New Roman" panose="02020603050405020304" pitchFamily="18" charset="0"/>
              <a:cs typeface="Times New Roman" panose="02020603050405020304" pitchFamily="18" charset="0"/>
            </a:endParaRPr>
          </a:p>
        </p:txBody>
      </p:sp>
      <p:sp>
        <p:nvSpPr>
          <p:cNvPr id="5" name="Овал 4"/>
          <p:cNvSpPr/>
          <p:nvPr/>
        </p:nvSpPr>
        <p:spPr>
          <a:xfrm>
            <a:off x="77638" y="1587261"/>
            <a:ext cx="3778370" cy="1130060"/>
          </a:xfrm>
          <a:prstGeom prst="ellipse">
            <a:avLst/>
          </a:prstGeom>
          <a:solidFill>
            <a:schemeClr val="accent3">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400" b="1" i="1" dirty="0">
                <a:solidFill>
                  <a:schemeClr val="tx1"/>
                </a:solidFill>
                <a:latin typeface="Times New Roman" panose="02020603050405020304" pitchFamily="18" charset="0"/>
                <a:cs typeface="Times New Roman" panose="02020603050405020304" pitchFamily="18" charset="0"/>
              </a:rPr>
              <a:t>1.1 Бізнес-процеси </a:t>
            </a:r>
            <a:r>
              <a:rPr lang="uk-UA" sz="2400" b="1" i="1" dirty="0" smtClean="0">
                <a:solidFill>
                  <a:schemeClr val="tx1"/>
                </a:solidFill>
                <a:latin typeface="Times New Roman" panose="02020603050405020304" pitchFamily="18" charset="0"/>
                <a:cs typeface="Times New Roman" panose="02020603050405020304" pitchFamily="18" charset="0"/>
              </a:rPr>
              <a:t>ресторану</a:t>
            </a:r>
            <a:endParaRPr lang="uk-UA" sz="2400" b="1" i="1" dirty="0">
              <a:solidFill>
                <a:schemeClr val="tx1"/>
              </a:solidFill>
              <a:latin typeface="Times New Roman" panose="02020603050405020304" pitchFamily="18" charset="0"/>
              <a:cs typeface="Times New Roman" panose="02020603050405020304" pitchFamily="18" charset="0"/>
            </a:endParaRPr>
          </a:p>
        </p:txBody>
      </p:sp>
      <p:sp>
        <p:nvSpPr>
          <p:cNvPr id="12" name="Скругленный прямоугольник 11"/>
          <p:cNvSpPr/>
          <p:nvPr/>
        </p:nvSpPr>
        <p:spPr>
          <a:xfrm>
            <a:off x="1708030" y="2794959"/>
            <a:ext cx="9859993" cy="39077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0" indent="-285750" algn="just">
              <a:buFont typeface="Courier New" panose="02070309020205020404" pitchFamily="49" charset="0"/>
              <a:buChar char="o"/>
            </a:pPr>
            <a:r>
              <a:rPr lang="uk-UA" b="1" i="1" dirty="0">
                <a:solidFill>
                  <a:schemeClr val="tx1"/>
                </a:solidFill>
                <a:latin typeface="Times New Roman" panose="02020603050405020304" pitchFamily="18" charset="0"/>
                <a:cs typeface="Times New Roman" panose="02020603050405020304" pitchFamily="18" charset="0"/>
              </a:rPr>
              <a:t>створення оптимізованого меню (шляхом аналізу позицій меню, які найкраще продаються);</a:t>
            </a:r>
          </a:p>
          <a:p>
            <a:pPr marL="285750" lvl="0" indent="-285750" algn="just">
              <a:buFont typeface="Courier New" panose="02070309020205020404" pitchFamily="49" charset="0"/>
              <a:buChar char="o"/>
            </a:pPr>
            <a:r>
              <a:rPr lang="uk-UA" b="1" i="1" dirty="0">
                <a:solidFill>
                  <a:schemeClr val="tx1"/>
                </a:solidFill>
                <a:latin typeface="Times New Roman" panose="02020603050405020304" pitchFamily="18" charset="0"/>
                <a:cs typeface="Times New Roman" panose="02020603050405020304" pitchFamily="18" charset="0"/>
              </a:rPr>
              <a:t>прискорення та покращення процесу обслуговування відвідувачів (шляхом оптимізації роботи офіціантів та кухні);</a:t>
            </a:r>
          </a:p>
          <a:p>
            <a:pPr marL="285750" lvl="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контроль </a:t>
            </a:r>
            <a:r>
              <a:rPr lang="uk-UA" b="1" i="1" dirty="0">
                <a:solidFill>
                  <a:schemeClr val="tx1"/>
                </a:solidFill>
                <a:latin typeface="Times New Roman" panose="02020603050405020304" pitchFamily="18" charset="0"/>
                <a:cs typeface="Times New Roman" panose="02020603050405020304" pitchFamily="18" charset="0"/>
              </a:rPr>
              <a:t>процесу обслуговування гостей;</a:t>
            </a:r>
          </a:p>
          <a:p>
            <a:pPr marL="285750" lvl="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оптимізація </a:t>
            </a:r>
            <a:r>
              <a:rPr lang="uk-UA" b="1" i="1" dirty="0">
                <a:solidFill>
                  <a:schemeClr val="tx1"/>
                </a:solidFill>
                <a:latin typeface="Times New Roman" panose="02020603050405020304" pitchFamily="18" charset="0"/>
                <a:cs typeface="Times New Roman" panose="02020603050405020304" pitchFamily="18" charset="0"/>
              </a:rPr>
              <a:t>процесу закупки продуктів їх зберігання;</a:t>
            </a:r>
          </a:p>
          <a:p>
            <a:pPr marL="285750" lvl="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мінімізація </a:t>
            </a:r>
            <a:r>
              <a:rPr lang="uk-UA" b="1" i="1" dirty="0">
                <a:solidFill>
                  <a:schemeClr val="tx1"/>
                </a:solidFill>
                <a:latin typeface="Times New Roman" panose="02020603050405020304" pitchFamily="18" charset="0"/>
                <a:cs typeface="Times New Roman" panose="02020603050405020304" pitchFamily="18" charset="0"/>
              </a:rPr>
              <a:t>недостач та втрат продуктів;</a:t>
            </a:r>
          </a:p>
          <a:p>
            <a:pPr marL="285750" lvl="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розробка </a:t>
            </a:r>
            <a:r>
              <a:rPr lang="uk-UA" b="1" i="1" dirty="0">
                <a:solidFill>
                  <a:schemeClr val="tx1"/>
                </a:solidFill>
                <a:latin typeface="Times New Roman" panose="02020603050405020304" pitchFamily="18" charset="0"/>
                <a:cs typeface="Times New Roman" panose="02020603050405020304" pitchFamily="18" charset="0"/>
              </a:rPr>
              <a:t>та впровадження програм лояльності;</a:t>
            </a:r>
          </a:p>
          <a:p>
            <a:pPr marL="285750" lvl="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раціональне </a:t>
            </a:r>
            <a:r>
              <a:rPr lang="uk-UA" b="1" i="1" dirty="0">
                <a:solidFill>
                  <a:schemeClr val="tx1"/>
                </a:solidFill>
                <a:latin typeface="Times New Roman" panose="02020603050405020304" pitchFamily="18" charset="0"/>
                <a:cs typeface="Times New Roman" panose="02020603050405020304" pitchFamily="18" charset="0"/>
              </a:rPr>
              <a:t>управління фінансовими потоками закладу;</a:t>
            </a:r>
          </a:p>
          <a:p>
            <a:pPr marL="285750" lvl="0" indent="-285750" algn="just">
              <a:buFont typeface="Courier New" panose="02070309020205020404" pitchFamily="49" charset="0"/>
              <a:buChar char="o"/>
            </a:pPr>
            <a:r>
              <a:rPr lang="uk-UA" b="1" i="1" dirty="0">
                <a:solidFill>
                  <a:schemeClr val="tx1"/>
                </a:solidFill>
                <a:latin typeface="Times New Roman" panose="02020603050405020304" pitchFamily="18" charset="0"/>
                <a:cs typeface="Times New Roman" panose="02020603050405020304" pitchFamily="18" charset="0"/>
              </a:rPr>
              <a:t>ведення аналітичної інформації щодо прибутковості/збитковості діяльності (які фактори впливають і які приймати рішення) тощо;</a:t>
            </a:r>
          </a:p>
          <a:p>
            <a:pPr marL="285750" lvl="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грамотне </a:t>
            </a:r>
            <a:r>
              <a:rPr lang="uk-UA" b="1" i="1" dirty="0">
                <a:solidFill>
                  <a:schemeClr val="tx1"/>
                </a:solidFill>
                <a:latin typeface="Times New Roman" panose="02020603050405020304" pitchFamily="18" charset="0"/>
                <a:cs typeface="Times New Roman" panose="02020603050405020304" pitchFamily="18" charset="0"/>
              </a:rPr>
              <a:t>управління персоналом та його </a:t>
            </a:r>
            <a:r>
              <a:rPr lang="uk-UA" b="1" i="1" dirty="0" err="1">
                <a:solidFill>
                  <a:schemeClr val="tx1"/>
                </a:solidFill>
                <a:latin typeface="Times New Roman" panose="02020603050405020304" pitchFamily="18" charset="0"/>
                <a:cs typeface="Times New Roman" panose="02020603050405020304" pitchFamily="18" charset="0"/>
              </a:rPr>
              <a:t>мотивацї</a:t>
            </a:r>
            <a:r>
              <a:rPr lang="uk-UA" b="1" i="1" dirty="0">
                <a:solidFill>
                  <a:schemeClr val="tx1"/>
                </a:solidFill>
                <a:latin typeface="Times New Roman" panose="02020603050405020304" pitchFamily="18" charset="0"/>
                <a:cs typeface="Times New Roman" panose="02020603050405020304" pitchFamily="18" charset="0"/>
              </a:rPr>
              <a:t>;</a:t>
            </a:r>
          </a:p>
          <a:p>
            <a:pPr marL="285750" lvl="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контроль </a:t>
            </a:r>
            <a:r>
              <a:rPr lang="uk-UA" b="1" i="1" dirty="0">
                <a:solidFill>
                  <a:schemeClr val="tx1"/>
                </a:solidFill>
                <a:latin typeface="Times New Roman" panose="02020603050405020304" pitchFamily="18" charset="0"/>
                <a:cs typeface="Times New Roman" panose="02020603050405020304" pitchFamily="18" charset="0"/>
              </a:rPr>
              <a:t>за станом ресторанного устаткування (планові вчасні ремонти, заміна тощо</a:t>
            </a:r>
            <a:r>
              <a:rPr lang="uk-UA" b="1" i="1" dirty="0" smtClean="0">
                <a:solidFill>
                  <a:schemeClr val="tx1"/>
                </a:solidFill>
                <a:latin typeface="Times New Roman" panose="02020603050405020304" pitchFamily="18" charset="0"/>
                <a:cs typeface="Times New Roman" panose="02020603050405020304" pitchFamily="18" charset="0"/>
              </a:rPr>
              <a:t>).</a:t>
            </a:r>
            <a:endParaRPr lang="uk-UA"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204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sz="quarter" idx="13"/>
          </p:nvPr>
        </p:nvSpPr>
        <p:spPr>
          <a:xfrm>
            <a:off x="198408" y="448574"/>
            <a:ext cx="11809562" cy="5342625"/>
          </a:xfrm>
        </p:spPr>
        <p:txBody>
          <a:bodyPr>
            <a:normAutofit/>
          </a:bodyPr>
          <a:lstStyle/>
          <a:p>
            <a:pPr marL="0" indent="0" algn="just" fontAlgn="base">
              <a:buNone/>
            </a:pPr>
            <a:r>
              <a:rPr lang="uk-UA" b="1" i="1" dirty="0" smtClean="0">
                <a:latin typeface="Times New Roman" panose="02020603050405020304" pitchFamily="18" charset="0"/>
                <a:cs typeface="Times New Roman" panose="02020603050405020304" pitchFamily="18" charset="0"/>
              </a:rPr>
              <a:t>	Вимога автоматизації процесів </a:t>
            </a:r>
            <a:r>
              <a:rPr lang="uk-UA" b="1" i="1" dirty="0">
                <a:latin typeface="Times New Roman" panose="02020603050405020304" pitchFamily="18" charset="0"/>
                <a:cs typeface="Times New Roman" panose="02020603050405020304" pitchFamily="18" charset="0"/>
              </a:rPr>
              <a:t>випливає, перш за все, з необхідності врахування великої кількості деталей, які узагальнимо до: неможливості наочного контролю керівниками кожного технологічного процесу за умов диверсифікації та відокремленості технологічних процесів; необхідності швидкого прийняття рішень і високої мобільності людських кадрів.</a:t>
            </a:r>
          </a:p>
          <a:p>
            <a:pPr marL="0" indent="0" algn="just" fontAlgn="base">
              <a:buNone/>
            </a:pPr>
            <a:r>
              <a:rPr lang="uk-UA" b="1" i="1" dirty="0" smtClean="0">
                <a:latin typeface="Times New Roman" panose="02020603050405020304" pitchFamily="18" charset="0"/>
                <a:cs typeface="Times New Roman" panose="02020603050405020304" pitchFamily="18" charset="0"/>
              </a:rPr>
              <a:t>	Зручність </a:t>
            </a:r>
            <a:r>
              <a:rPr lang="uk-UA" b="1" i="1" dirty="0">
                <a:latin typeface="Times New Roman" panose="02020603050405020304" pitchFamily="18" charset="0"/>
                <a:cs typeface="Times New Roman" panose="02020603050405020304" pitchFamily="18" charset="0"/>
              </a:rPr>
              <a:t>автоматизації та інформатизації процесів на підприємстві громадського харчування очевидна не тільки з точки зору «ведення справ», але і з позицій клієнтів, так як інформаційні системи дозволяють більш </a:t>
            </a:r>
            <a:r>
              <a:rPr lang="uk-UA" b="1" i="1" dirty="0" err="1">
                <a:latin typeface="Times New Roman" panose="02020603050405020304" pitchFamily="18" charset="0"/>
                <a:cs typeface="Times New Roman" panose="02020603050405020304" pitchFamily="18" charset="0"/>
              </a:rPr>
              <a:t>оперативно</a:t>
            </a:r>
            <a:r>
              <a:rPr lang="uk-UA" b="1" i="1" dirty="0">
                <a:latin typeface="Times New Roman" panose="02020603050405020304" pitchFamily="18" charset="0"/>
                <a:cs typeface="Times New Roman" panose="02020603050405020304" pitchFamily="18" charset="0"/>
              </a:rPr>
              <a:t> здійснювати розрахунки з відвідувачами, черговість обслуговування, забезпеченість пропонованого меню усіма необхідними інгредієнтами. </a:t>
            </a:r>
          </a:p>
        </p:txBody>
      </p:sp>
    </p:spTree>
    <p:extLst>
      <p:ext uri="{BB962C8B-B14F-4D97-AF65-F5344CB8AC3E}">
        <p14:creationId xmlns:p14="http://schemas.microsoft.com/office/powerpoint/2010/main" val="1847750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74760" y="145500"/>
            <a:ext cx="4080295" cy="1303738"/>
          </a:xfrm>
          <a:prstGeom prst="ellipse">
            <a:avLst/>
          </a:prstGeom>
          <a:solidFill>
            <a:schemeClr val="accent1">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b="1" i="1" dirty="0" smtClean="0">
                <a:solidFill>
                  <a:schemeClr val="tx1"/>
                </a:solidFill>
                <a:latin typeface="Times New Roman" panose="02020603050405020304" pitchFamily="18" charset="0"/>
                <a:cs typeface="Times New Roman" panose="02020603050405020304" pitchFamily="18" charset="0"/>
              </a:rPr>
              <a:t>1.2 </a:t>
            </a:r>
            <a:r>
              <a:rPr lang="ru-RU" sz="2000" b="1" i="1" dirty="0" err="1" smtClean="0">
                <a:solidFill>
                  <a:schemeClr val="tx1"/>
                </a:solidFill>
                <a:latin typeface="Times New Roman" panose="02020603050405020304" pitchFamily="18" charset="0"/>
                <a:cs typeface="Times New Roman" panose="02020603050405020304" pitchFamily="18" charset="0"/>
              </a:rPr>
              <a:t>Розвиток</a:t>
            </a:r>
            <a:r>
              <a:rPr lang="ru-RU" sz="2000" b="1" i="1" dirty="0" smtClean="0">
                <a:solidFill>
                  <a:schemeClr val="tx1"/>
                </a:solidFill>
                <a:latin typeface="Times New Roman" panose="02020603050405020304" pitchFamily="18" charset="0"/>
                <a:cs typeface="Times New Roman" panose="02020603050405020304" pitchFamily="18" charset="0"/>
              </a:rPr>
              <a:t> ресторанного </a:t>
            </a:r>
            <a:r>
              <a:rPr lang="ru-RU" sz="2000" b="1" i="1" dirty="0" err="1" smtClean="0">
                <a:solidFill>
                  <a:schemeClr val="tx1"/>
                </a:solidFill>
                <a:latin typeface="Times New Roman" panose="02020603050405020304" pitchFamily="18" charset="0"/>
                <a:cs typeface="Times New Roman" panose="02020603050405020304" pitchFamily="18" charset="0"/>
              </a:rPr>
              <a:t>бізнесу</a:t>
            </a:r>
            <a:r>
              <a:rPr lang="ru-RU" sz="2000" b="1" i="1" dirty="0" smtClean="0">
                <a:solidFill>
                  <a:schemeClr val="tx1"/>
                </a:solidFill>
                <a:latin typeface="Times New Roman" panose="02020603050405020304" pitchFamily="18" charset="0"/>
                <a:cs typeface="Times New Roman" panose="02020603050405020304" pitchFamily="18" charset="0"/>
              </a:rPr>
              <a:t> в </a:t>
            </a:r>
            <a:r>
              <a:rPr lang="ru-RU" sz="2000" b="1" i="1" dirty="0" err="1" smtClean="0">
                <a:solidFill>
                  <a:schemeClr val="tx1"/>
                </a:solidFill>
                <a:latin typeface="Times New Roman" panose="02020603050405020304" pitchFamily="18" charset="0"/>
                <a:cs typeface="Times New Roman" panose="02020603050405020304" pitchFamily="18" charset="0"/>
              </a:rPr>
              <a:t>Україні</a:t>
            </a:r>
            <a:endParaRPr lang="uk-UA" sz="2000" b="1" i="1" dirty="0">
              <a:solidFill>
                <a:schemeClr val="tx1"/>
              </a:solidFill>
              <a:latin typeface="Times New Roman" panose="02020603050405020304" pitchFamily="18" charset="0"/>
              <a:cs typeface="Times New Roman" panose="02020603050405020304" pitchFamily="18" charset="0"/>
            </a:endParaRPr>
          </a:p>
        </p:txBody>
      </p:sp>
      <p:sp>
        <p:nvSpPr>
          <p:cNvPr id="5" name="Скругленный прямоугольник 4"/>
          <p:cNvSpPr/>
          <p:nvPr/>
        </p:nvSpPr>
        <p:spPr>
          <a:xfrm>
            <a:off x="3772619" y="1137538"/>
            <a:ext cx="7504981" cy="2303253"/>
          </a:xfrm>
          <a:prstGeom prst="roundRect">
            <a:avLst/>
          </a:prstGeom>
          <a:solidFill>
            <a:schemeClr val="accent6">
              <a:lumMod val="40000"/>
              <a:lumOff val="6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smtClean="0">
                <a:solidFill>
                  <a:schemeClr val="tx1"/>
                </a:solidFill>
                <a:latin typeface="Times New Roman" panose="02020603050405020304" pitchFamily="18" charset="0"/>
                <a:cs typeface="Times New Roman" panose="02020603050405020304" pitchFamily="18" charset="0"/>
              </a:rPr>
              <a:t>З початком економічної трансформації економіки України, коли прибутковість стала ключовою метою діяльності суб'єктів господарювання, відбулося значне зменшення кількості об'єктів ресторанного господарства при установах, промислових підприємствах, навчальних закладах тощо, які обслуговують споживачів, об'єднаних за професійними ознаками за місцем роботи або навчання.</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6" name="Скругленный прямоугольник 5"/>
          <p:cNvSpPr/>
          <p:nvPr/>
        </p:nvSpPr>
        <p:spPr>
          <a:xfrm>
            <a:off x="215662" y="3350213"/>
            <a:ext cx="3424687" cy="1457864"/>
          </a:xfrm>
          <a:prstGeom prst="roundRect">
            <a:avLst/>
          </a:prstGeom>
          <a:solidFill>
            <a:schemeClr val="accent6">
              <a:lumMod val="40000"/>
              <a:lumOff val="6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b="1" i="1" dirty="0" err="1" smtClean="0">
                <a:solidFill>
                  <a:schemeClr val="tx1"/>
                </a:solidFill>
                <a:latin typeface="Times New Roman" panose="02020603050405020304" pitchFamily="18" charset="0"/>
                <a:cs typeface="Times New Roman" panose="02020603050405020304" pitchFamily="18" charset="0"/>
              </a:rPr>
              <a:t>Ринок</a:t>
            </a:r>
            <a:r>
              <a:rPr lang="ru-RU" b="1" i="1" dirty="0" smtClean="0">
                <a:solidFill>
                  <a:schemeClr val="tx1"/>
                </a:solidFill>
                <a:latin typeface="Times New Roman" panose="02020603050405020304" pitchFamily="18" charset="0"/>
                <a:cs typeface="Times New Roman" panose="02020603050405020304" pitchFamily="18" charset="0"/>
              </a:rPr>
              <a:t> ресторанного </a:t>
            </a:r>
            <a:r>
              <a:rPr lang="ru-RU" b="1" i="1" dirty="0" err="1" smtClean="0">
                <a:solidFill>
                  <a:schemeClr val="tx1"/>
                </a:solidFill>
                <a:latin typeface="Times New Roman" panose="02020603050405020304" pitchFamily="18" charset="0"/>
                <a:cs typeface="Times New Roman" panose="02020603050405020304" pitchFamily="18" charset="0"/>
              </a:rPr>
              <a:t>бізнесу</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займає</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найбільшу</a:t>
            </a:r>
            <a:r>
              <a:rPr lang="ru-RU" b="1" i="1" dirty="0" smtClean="0">
                <a:solidFill>
                  <a:schemeClr val="tx1"/>
                </a:solidFill>
                <a:latin typeface="Times New Roman" panose="02020603050405020304" pitchFamily="18" charset="0"/>
                <a:cs typeface="Times New Roman" panose="02020603050405020304" pitchFamily="18" charset="0"/>
              </a:rPr>
              <a:t> долю (</a:t>
            </a:r>
            <a:r>
              <a:rPr lang="ru-RU" b="1" i="1" dirty="0" err="1" smtClean="0">
                <a:solidFill>
                  <a:schemeClr val="tx1"/>
                </a:solidFill>
                <a:latin typeface="Times New Roman" panose="02020603050405020304" pitchFamily="18" charset="0"/>
                <a:cs typeface="Times New Roman" panose="02020603050405020304" pitchFamily="18" charset="0"/>
              </a:rPr>
              <a:t>близько</a:t>
            </a:r>
            <a:r>
              <a:rPr lang="ru-RU" b="1" i="1" dirty="0" smtClean="0">
                <a:solidFill>
                  <a:schemeClr val="tx1"/>
                </a:solidFill>
                <a:latin typeface="Times New Roman" panose="02020603050405020304" pitchFamily="18" charset="0"/>
                <a:cs typeface="Times New Roman" panose="02020603050405020304" pitchFamily="18" charset="0"/>
              </a:rPr>
              <a:t> 55%) </a:t>
            </a:r>
            <a:r>
              <a:rPr lang="ru-RU" b="1" i="1" dirty="0" err="1" smtClean="0">
                <a:solidFill>
                  <a:schemeClr val="tx1"/>
                </a:solidFill>
                <a:latin typeface="Times New Roman" panose="02020603050405020304" pitchFamily="18" charset="0"/>
                <a:cs typeface="Times New Roman" panose="02020603050405020304" pitchFamily="18" charset="0"/>
              </a:rPr>
              <a:t>серед</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усіх</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брендів</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які</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розвивають</a:t>
            </a:r>
            <a:r>
              <a:rPr lang="ru-RU" b="1" i="1" dirty="0" smtClean="0">
                <a:solidFill>
                  <a:schemeClr val="tx1"/>
                </a:solidFill>
                <a:latin typeface="Times New Roman" panose="02020603050405020304" pitchFamily="18" charset="0"/>
                <a:cs typeface="Times New Roman" panose="02020603050405020304" pitchFamily="18" charset="0"/>
              </a:rPr>
              <a:t> франчайзинг в </a:t>
            </a:r>
            <a:r>
              <a:rPr lang="ru-RU" b="1" i="1" dirty="0" err="1" smtClean="0">
                <a:solidFill>
                  <a:schemeClr val="tx1"/>
                </a:solidFill>
                <a:latin typeface="Times New Roman" panose="02020603050405020304" pitchFamily="18" charset="0"/>
                <a:cs typeface="Times New Roman" panose="02020603050405020304" pitchFamily="18" charset="0"/>
              </a:rPr>
              <a:t>Україні</a:t>
            </a:r>
            <a:r>
              <a:rPr lang="ru-RU" b="1" i="1" dirty="0" smtClean="0">
                <a:solidFill>
                  <a:schemeClr val="tx1"/>
                </a:solidFill>
                <a:latin typeface="Times New Roman" panose="02020603050405020304" pitchFamily="18" charset="0"/>
                <a:cs typeface="Times New Roman" panose="02020603050405020304" pitchFamily="18" charset="0"/>
              </a:rPr>
              <a:t>.</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7" name="Скругленный прямоугольник 6"/>
          <p:cNvSpPr/>
          <p:nvPr/>
        </p:nvSpPr>
        <p:spPr>
          <a:xfrm>
            <a:off x="5098209" y="4079145"/>
            <a:ext cx="6003985" cy="2049633"/>
          </a:xfrm>
          <a:prstGeom prst="roundRect">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i="1" dirty="0" smtClean="0">
                <a:solidFill>
                  <a:schemeClr val="tx1"/>
                </a:solidFill>
                <a:latin typeface="Times New Roman" panose="02020603050405020304" pitchFamily="18" charset="0"/>
                <a:cs typeface="Times New Roman" panose="02020603050405020304" pitchFamily="18" charset="0"/>
              </a:rPr>
              <a:t>За </a:t>
            </a:r>
            <a:r>
              <a:rPr lang="ru-RU" b="1" i="1" dirty="0" err="1" smtClean="0">
                <a:solidFill>
                  <a:schemeClr val="tx1"/>
                </a:solidFill>
                <a:latin typeface="Times New Roman" panose="02020603050405020304" pitchFamily="18" charset="0"/>
                <a:cs typeface="Times New Roman" panose="02020603050405020304" pitchFamily="18" charset="0"/>
              </a:rPr>
              <a:t>останні</a:t>
            </a:r>
            <a:r>
              <a:rPr lang="ru-RU" b="1" i="1" dirty="0" smtClean="0">
                <a:solidFill>
                  <a:schemeClr val="tx1"/>
                </a:solidFill>
                <a:latin typeface="Times New Roman" panose="02020603050405020304" pitchFamily="18" charset="0"/>
                <a:cs typeface="Times New Roman" panose="02020603050405020304" pitchFamily="18" charset="0"/>
              </a:rPr>
              <a:t> 5 </a:t>
            </a:r>
            <a:r>
              <a:rPr lang="ru-RU" b="1" i="1" dirty="0" err="1" smtClean="0">
                <a:solidFill>
                  <a:schemeClr val="tx1"/>
                </a:solidFill>
                <a:latin typeface="Times New Roman" panose="02020603050405020304" pitchFamily="18" charset="0"/>
                <a:cs typeface="Times New Roman" panose="02020603050405020304" pitchFamily="18" charset="0"/>
              </a:rPr>
              <a:t>років</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кількість</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ресторанів</a:t>
            </a:r>
            <a:r>
              <a:rPr lang="ru-RU" b="1" i="1" dirty="0" smtClean="0">
                <a:solidFill>
                  <a:schemeClr val="tx1"/>
                </a:solidFill>
                <a:latin typeface="Times New Roman" panose="02020603050405020304" pitchFamily="18" charset="0"/>
                <a:cs typeface="Times New Roman" panose="02020603050405020304" pitchFamily="18" charset="0"/>
              </a:rPr>
              <a:t> в </a:t>
            </a:r>
            <a:r>
              <a:rPr lang="ru-RU" b="1" i="1" dirty="0" err="1" smtClean="0">
                <a:solidFill>
                  <a:schemeClr val="tx1"/>
                </a:solidFill>
                <a:latin typeface="Times New Roman" panose="02020603050405020304" pitchFamily="18" charset="0"/>
                <a:cs typeface="Times New Roman" panose="02020603050405020304" pitchFamily="18" charset="0"/>
              </a:rPr>
              <a:t>Україні</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подвоїлася</a:t>
            </a:r>
            <a:r>
              <a:rPr lang="ru-RU" b="1" i="1" dirty="0" smtClean="0">
                <a:solidFill>
                  <a:schemeClr val="tx1"/>
                </a:solidFill>
                <a:latin typeface="Times New Roman" panose="02020603050405020304" pitchFamily="18" charset="0"/>
                <a:cs typeface="Times New Roman" panose="02020603050405020304" pitchFamily="18" charset="0"/>
              </a:rPr>
              <a:t>, тому в </a:t>
            </a:r>
            <a:r>
              <a:rPr lang="ru-RU" b="1" i="1" dirty="0" err="1" smtClean="0">
                <a:solidFill>
                  <a:schemeClr val="tx1"/>
                </a:solidFill>
                <a:latin typeface="Times New Roman" panose="02020603050405020304" pitchFamily="18" charset="0"/>
                <a:cs typeface="Times New Roman" panose="02020603050405020304" pitchFamily="18" charset="0"/>
              </a:rPr>
              <a:t>умовах</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значної</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конкуренції</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ресторатори</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починають</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використо</a:t>
            </a:r>
            <a:r>
              <a:rPr lang="ru-RU" b="1" i="1" dirty="0" smtClean="0">
                <a:solidFill>
                  <a:schemeClr val="tx1"/>
                </a:solidFill>
                <a:latin typeface="Times New Roman" panose="02020603050405020304" pitchFamily="18" charset="0"/>
                <a:cs typeface="Times New Roman" panose="02020603050405020304" pitchFamily="18" charset="0"/>
              </a:rPr>
              <a:t>- 11 </a:t>
            </a:r>
            <a:r>
              <a:rPr lang="ru-RU" b="1" i="1" dirty="0" err="1" smtClean="0">
                <a:solidFill>
                  <a:schemeClr val="tx1"/>
                </a:solidFill>
                <a:latin typeface="Times New Roman" panose="02020603050405020304" pitchFamily="18" charset="0"/>
                <a:cs typeface="Times New Roman" panose="02020603050405020304" pitchFamily="18" charset="0"/>
              </a:rPr>
              <a:t>вувати</a:t>
            </a:r>
            <a:r>
              <a:rPr lang="ru-RU" b="1" i="1" dirty="0" smtClean="0">
                <a:solidFill>
                  <a:schemeClr val="tx1"/>
                </a:solidFill>
                <a:latin typeface="Times New Roman" panose="02020603050405020304" pitchFamily="18" charset="0"/>
                <a:cs typeface="Times New Roman" panose="02020603050405020304" pitchFamily="18" charset="0"/>
              </a:rPr>
              <a:t> не </a:t>
            </a:r>
            <a:r>
              <a:rPr lang="ru-RU" b="1" i="1" dirty="0" err="1" smtClean="0">
                <a:solidFill>
                  <a:schemeClr val="tx1"/>
                </a:solidFill>
                <a:latin typeface="Times New Roman" panose="02020603050405020304" pitchFamily="18" charset="0"/>
                <a:cs typeface="Times New Roman" panose="02020603050405020304" pitchFamily="18" charset="0"/>
              </a:rPr>
              <a:t>лише</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концептуальний</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напрямок</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розвитку</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свого</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бізнесу</a:t>
            </a:r>
            <a:r>
              <a:rPr lang="ru-RU" b="1" i="1" dirty="0" smtClean="0">
                <a:solidFill>
                  <a:schemeClr val="tx1"/>
                </a:solidFill>
                <a:latin typeface="Times New Roman" panose="02020603050405020304" pitchFamily="18" charset="0"/>
                <a:cs typeface="Times New Roman" panose="02020603050405020304" pitchFamily="18" charset="0"/>
              </a:rPr>
              <a:t>, а й </a:t>
            </a:r>
            <a:r>
              <a:rPr lang="ru-RU" b="1" i="1" dirty="0" err="1" smtClean="0">
                <a:solidFill>
                  <a:schemeClr val="tx1"/>
                </a:solidFill>
                <a:latin typeface="Times New Roman" panose="02020603050405020304" pitchFamily="18" charset="0"/>
                <a:cs typeface="Times New Roman" panose="02020603050405020304" pitchFamily="18" charset="0"/>
              </a:rPr>
              <a:t>використовувати</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автоматизацію</a:t>
            </a:r>
            <a:r>
              <a:rPr lang="ru-RU" b="1" i="1" dirty="0" smtClean="0">
                <a:solidFill>
                  <a:schemeClr val="tx1"/>
                </a:solidFill>
                <a:latin typeface="Times New Roman" panose="02020603050405020304" pitchFamily="18" charset="0"/>
                <a:cs typeface="Times New Roman" panose="02020603050405020304" pitchFamily="18" charset="0"/>
              </a:rPr>
              <a:t> систем для </a:t>
            </a:r>
            <a:r>
              <a:rPr lang="ru-RU" b="1" i="1" dirty="0" err="1" smtClean="0">
                <a:solidFill>
                  <a:schemeClr val="tx1"/>
                </a:solidFill>
                <a:latin typeface="Times New Roman" panose="02020603050405020304" pitchFamily="18" charset="0"/>
                <a:cs typeface="Times New Roman" panose="02020603050405020304" pitchFamily="18" charset="0"/>
              </a:rPr>
              <a:t>полегшення</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ведення</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діяльності</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залучення</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клієнтів</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розвитку</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бонусних</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програм</a:t>
            </a:r>
            <a:r>
              <a:rPr lang="ru-RU" b="1" i="1" dirty="0" smtClean="0">
                <a:solidFill>
                  <a:schemeClr val="tx1"/>
                </a:solidFill>
                <a:latin typeface="Times New Roman" panose="02020603050405020304" pitchFamily="18" charset="0"/>
                <a:cs typeface="Times New Roman" panose="02020603050405020304" pitchFamily="18" charset="0"/>
              </a:rPr>
              <a:t>.</a:t>
            </a:r>
            <a:endParaRPr lang="uk-UA"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7056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198408" y="77637"/>
            <a:ext cx="3536830" cy="1388854"/>
          </a:xfrm>
          <a:prstGeom prst="ellipse">
            <a:avLst/>
          </a:prstGeom>
          <a:solidFill>
            <a:schemeClr val="accent2">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000" b="1" i="1" dirty="0">
                <a:solidFill>
                  <a:schemeClr val="tx1"/>
                </a:solidFill>
                <a:latin typeface="Times New Roman" panose="02020603050405020304" pitchFamily="18" charset="0"/>
                <a:cs typeface="Times New Roman" panose="02020603050405020304" pitchFamily="18" charset="0"/>
              </a:rPr>
              <a:t>1.3 Документування ресторанного господарства </a:t>
            </a:r>
          </a:p>
        </p:txBody>
      </p:sp>
      <p:sp>
        <p:nvSpPr>
          <p:cNvPr id="5" name="Скругленный прямоугольник 4"/>
          <p:cNvSpPr/>
          <p:nvPr/>
        </p:nvSpPr>
        <p:spPr>
          <a:xfrm>
            <a:off x="5218980" y="211347"/>
            <a:ext cx="6064370" cy="2061713"/>
          </a:xfrm>
          <a:prstGeom prst="roundRect">
            <a:avLst/>
          </a:prstGeom>
          <a:solidFill>
            <a:schemeClr val="tx2">
              <a:lumMod val="20000"/>
              <a:lumOff val="8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b="1" i="1" dirty="0" err="1">
                <a:solidFill>
                  <a:schemeClr val="tx1"/>
                </a:solidFill>
                <a:latin typeface="Times New Roman" panose="02020603050405020304" pitchFamily="18" charset="0"/>
                <a:cs typeface="Times New Roman" panose="02020603050405020304" pitchFamily="18" charset="0"/>
              </a:rPr>
              <a:t>Документація</a:t>
            </a:r>
            <a:r>
              <a:rPr lang="ru-RU" b="1" i="1" dirty="0">
                <a:solidFill>
                  <a:schemeClr val="tx1"/>
                </a:solidFill>
                <a:latin typeface="Times New Roman" panose="02020603050405020304" pitchFamily="18" charset="0"/>
                <a:cs typeface="Times New Roman" panose="02020603050405020304" pitchFamily="18" charset="0"/>
              </a:rPr>
              <a:t> ресторанного </a:t>
            </a:r>
            <a:r>
              <a:rPr lang="ru-RU" b="1" i="1" dirty="0" err="1">
                <a:solidFill>
                  <a:schemeClr val="tx1"/>
                </a:solidFill>
                <a:latin typeface="Times New Roman" panose="02020603050405020304" pitchFamily="18" charset="0"/>
                <a:cs typeface="Times New Roman" panose="02020603050405020304" pitchFamily="18" charset="0"/>
              </a:rPr>
              <a:t>господарства</a:t>
            </a:r>
            <a:r>
              <a:rPr lang="ru-RU" b="1" i="1" dirty="0">
                <a:solidFill>
                  <a:schemeClr val="tx1"/>
                </a:solidFill>
                <a:latin typeface="Times New Roman" panose="02020603050405020304" pitchFamily="18" charset="0"/>
                <a:cs typeface="Times New Roman" panose="02020603050405020304" pitchFamily="18" charset="0"/>
              </a:rPr>
              <a:t>, яка </a:t>
            </a:r>
            <a:r>
              <a:rPr lang="ru-RU" b="1" i="1" dirty="0" err="1">
                <a:solidFill>
                  <a:schemeClr val="tx1"/>
                </a:solidFill>
                <a:latin typeface="Times New Roman" panose="02020603050405020304" pitchFamily="18" charset="0"/>
                <a:cs typeface="Times New Roman" panose="02020603050405020304" pitchFamily="18" charset="0"/>
              </a:rPr>
              <a:t>ведеться</a:t>
            </a:r>
            <a:r>
              <a:rPr lang="ru-RU" b="1" i="1" dirty="0">
                <a:solidFill>
                  <a:schemeClr val="tx1"/>
                </a:solidFill>
                <a:latin typeface="Times New Roman" panose="02020603050405020304" pitchFamily="18" charset="0"/>
                <a:cs typeface="Times New Roman" panose="02020603050405020304" pitchFamily="18" charset="0"/>
              </a:rPr>
              <a:t> в закладах: </a:t>
            </a:r>
          </a:p>
          <a:p>
            <a:pPr marL="285750" indent="-285750" algn="just">
              <a:buFont typeface="Arial" panose="020B0604020202020204" pitchFamily="34" charset="0"/>
              <a:buChar char="•"/>
            </a:pPr>
            <a:r>
              <a:rPr lang="ru-RU" b="1" i="1" dirty="0">
                <a:solidFill>
                  <a:schemeClr val="tx1"/>
                </a:solidFill>
                <a:latin typeface="Times New Roman" panose="02020603050405020304" pitchFamily="18" charset="0"/>
                <a:cs typeface="Times New Roman" panose="02020603050405020304" pitchFamily="18" charset="0"/>
              </a:rPr>
              <a:t>нормативна – </a:t>
            </a:r>
            <a:r>
              <a:rPr lang="ru-RU" b="1" i="1" dirty="0" err="1">
                <a:solidFill>
                  <a:schemeClr val="tx1"/>
                </a:solidFill>
                <a:latin typeface="Times New Roman" panose="02020603050405020304" pitchFamily="18" charset="0"/>
                <a:cs typeface="Times New Roman" panose="02020603050405020304" pitchFamily="18" charset="0"/>
              </a:rPr>
              <a:t>регламентує</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діяльність</a:t>
            </a:r>
            <a:r>
              <a:rPr lang="ru-RU" b="1" i="1" dirty="0">
                <a:solidFill>
                  <a:schemeClr val="tx1"/>
                </a:solidFill>
                <a:latin typeface="Times New Roman" panose="02020603050405020304" pitchFamily="18" charset="0"/>
                <a:cs typeface="Times New Roman" panose="02020603050405020304" pitchFamily="18" charset="0"/>
              </a:rPr>
              <a:t> закладу ресторанного </a:t>
            </a:r>
            <a:r>
              <a:rPr lang="ru-RU" b="1" i="1" dirty="0" err="1">
                <a:solidFill>
                  <a:schemeClr val="tx1"/>
                </a:solidFill>
                <a:latin typeface="Times New Roman" panose="02020603050405020304" pitchFamily="18" charset="0"/>
                <a:cs typeface="Times New Roman" panose="02020603050405020304" pitchFamily="18" charset="0"/>
              </a:rPr>
              <a:t>господарства</a:t>
            </a:r>
            <a:r>
              <a:rPr lang="ru-RU" b="1" i="1" dirty="0">
                <a:solidFill>
                  <a:schemeClr val="tx1"/>
                </a:solidFill>
                <a:latin typeface="Times New Roman" panose="02020603050405020304" pitchFamily="18" charset="0"/>
                <a:cs typeface="Times New Roman" panose="02020603050405020304" pitchFamily="18" charset="0"/>
              </a:rPr>
              <a:t>; </a:t>
            </a:r>
          </a:p>
          <a:p>
            <a:pPr marL="285750" indent="-285750" algn="just">
              <a:buFont typeface="Arial" panose="020B0604020202020204" pitchFamily="34" charset="0"/>
              <a:buChar char="•"/>
            </a:pPr>
            <a:r>
              <a:rPr lang="ru-RU" b="1" i="1" dirty="0" err="1">
                <a:solidFill>
                  <a:schemeClr val="tx1"/>
                </a:solidFill>
                <a:latin typeface="Times New Roman" panose="02020603050405020304" pitchFamily="18" charset="0"/>
                <a:cs typeface="Times New Roman" panose="02020603050405020304" pitchFamily="18" charset="0"/>
              </a:rPr>
              <a:t>технологічна</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документації</a:t>
            </a:r>
            <a:r>
              <a:rPr lang="ru-RU" b="1" i="1" dirty="0">
                <a:solidFill>
                  <a:schemeClr val="tx1"/>
                </a:solidFill>
                <a:latin typeface="Times New Roman" panose="02020603050405020304" pitchFamily="18" charset="0"/>
                <a:cs typeface="Times New Roman" panose="02020603050405020304" pitchFamily="18" charset="0"/>
              </a:rPr>
              <a:t> – </a:t>
            </a:r>
            <a:r>
              <a:rPr lang="ru-RU" b="1" i="1" dirty="0" err="1">
                <a:solidFill>
                  <a:schemeClr val="tx1"/>
                </a:solidFill>
                <a:latin typeface="Times New Roman" panose="02020603050405020304" pitchFamily="18" charset="0"/>
                <a:cs typeface="Times New Roman" panose="02020603050405020304" pitchFamily="18" charset="0"/>
              </a:rPr>
              <a:t>це</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сукупність</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документів</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які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визначають</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технологічний</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процес</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виробництва</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кулінарних</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виробів</a:t>
            </a:r>
            <a:r>
              <a:rPr lang="ru-RU" b="1" i="1" dirty="0">
                <a:solidFill>
                  <a:schemeClr val="tx1"/>
                </a:solidFill>
                <a:latin typeface="Times New Roman" panose="02020603050405020304" pitchFamily="18" charset="0"/>
                <a:cs typeface="Times New Roman" panose="02020603050405020304" pitchFamily="18" charset="0"/>
              </a:rPr>
              <a:t>.</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6" name="Скругленный прямоугольник 5"/>
          <p:cNvSpPr/>
          <p:nvPr/>
        </p:nvSpPr>
        <p:spPr>
          <a:xfrm>
            <a:off x="112142" y="2298940"/>
            <a:ext cx="5486401" cy="2583611"/>
          </a:xfrm>
          <a:prstGeom prst="roundRect">
            <a:avLst/>
          </a:prstGeom>
          <a:solidFill>
            <a:schemeClr val="tx2">
              <a:lumMod val="20000"/>
              <a:lumOff val="8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До нормативних документів, призначених для підприємств ресторанного господарства всіх типів, класів і форм власності, що містять рецептури й технологічні інструкції, </a:t>
            </a:r>
            <a:r>
              <a:rPr lang="uk-UA" b="1" i="1" dirty="0" smtClean="0">
                <a:solidFill>
                  <a:schemeClr val="tx1"/>
                </a:solidFill>
                <a:latin typeface="Times New Roman" panose="02020603050405020304" pitchFamily="18" charset="0"/>
                <a:cs typeface="Times New Roman" panose="02020603050405020304" pitchFamily="18" charset="0"/>
              </a:rPr>
              <a:t>належать:</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Галузеві </a:t>
            </a:r>
            <a:r>
              <a:rPr lang="uk-UA" b="1" i="1" dirty="0">
                <a:solidFill>
                  <a:schemeClr val="tx1"/>
                </a:solidFill>
                <a:latin typeface="Times New Roman" panose="02020603050405020304" pitchFamily="18" charset="0"/>
                <a:cs typeface="Times New Roman" panose="02020603050405020304" pitchFamily="18" charset="0"/>
              </a:rPr>
              <a:t>стандарти (ГСТ);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Технічні </a:t>
            </a:r>
            <a:r>
              <a:rPr lang="uk-UA" b="1" i="1" dirty="0">
                <a:solidFill>
                  <a:schemeClr val="tx1"/>
                </a:solidFill>
                <a:latin typeface="Times New Roman" panose="02020603050405020304" pitchFamily="18" charset="0"/>
                <a:cs typeface="Times New Roman" panose="02020603050405020304" pitchFamily="18" charset="0"/>
              </a:rPr>
              <a:t>умови й технологічні інструкції (ТУ і ТІ);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Стандарти </a:t>
            </a:r>
            <a:r>
              <a:rPr lang="uk-UA" b="1" i="1" dirty="0">
                <a:solidFill>
                  <a:schemeClr val="tx1"/>
                </a:solidFill>
                <a:latin typeface="Times New Roman" panose="02020603050405020304" pitchFamily="18" charset="0"/>
                <a:cs typeface="Times New Roman" panose="02020603050405020304" pitchFamily="18" charset="0"/>
              </a:rPr>
              <a:t>підприємств (СТП).</a:t>
            </a:r>
          </a:p>
        </p:txBody>
      </p:sp>
      <p:sp>
        <p:nvSpPr>
          <p:cNvPr id="7" name="Скругленный прямоугольник 6"/>
          <p:cNvSpPr/>
          <p:nvPr/>
        </p:nvSpPr>
        <p:spPr>
          <a:xfrm>
            <a:off x="5831457" y="3157268"/>
            <a:ext cx="6280030" cy="3450566"/>
          </a:xfrm>
          <a:prstGeom prst="roundRect">
            <a:avLst/>
          </a:prstGeom>
          <a:solidFill>
            <a:schemeClr val="bg2">
              <a:lumMod val="40000"/>
              <a:lumOff val="6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b="1" i="1" dirty="0">
                <a:solidFill>
                  <a:schemeClr val="tx1"/>
                </a:solidFill>
                <a:latin typeface="Times New Roman" panose="02020603050405020304" pitchFamily="18" charset="0"/>
                <a:cs typeface="Times New Roman" panose="02020603050405020304" pitchFamily="18" charset="0"/>
              </a:rPr>
              <a:t>До </a:t>
            </a:r>
            <a:r>
              <a:rPr lang="ru-RU" b="1" i="1" dirty="0" err="1">
                <a:solidFill>
                  <a:schemeClr val="tx1"/>
                </a:solidFill>
                <a:latin typeface="Times New Roman" panose="02020603050405020304" pitchFamily="18" charset="0"/>
                <a:cs typeface="Times New Roman" panose="02020603050405020304" pitchFamily="18" charset="0"/>
              </a:rPr>
              <a:t>технологічної</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документації</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відноситься</a:t>
            </a:r>
            <a:r>
              <a:rPr lang="ru-RU" b="1" i="1" dirty="0">
                <a:solidFill>
                  <a:schemeClr val="tx1"/>
                </a:solidFill>
                <a:latin typeface="Times New Roman" panose="02020603050405020304" pitchFamily="18" charset="0"/>
                <a:cs typeface="Times New Roman" panose="02020603050405020304" pitchFamily="18" charset="0"/>
              </a:rPr>
              <a:t>: </a:t>
            </a:r>
            <a:endParaRPr lang="ru-RU"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ru-RU" b="1" i="1" dirty="0" smtClean="0">
                <a:solidFill>
                  <a:schemeClr val="tx1"/>
                </a:solidFill>
                <a:latin typeface="Times New Roman" panose="02020603050405020304" pitchFamily="18" charset="0"/>
                <a:cs typeface="Times New Roman" panose="02020603050405020304" pitchFamily="18" charset="0"/>
              </a:rPr>
              <a:t>План-меню </a:t>
            </a:r>
            <a:r>
              <a:rPr lang="ru-RU" b="1" i="1" dirty="0">
                <a:solidFill>
                  <a:schemeClr val="tx1"/>
                </a:solidFill>
                <a:latin typeface="Times New Roman" panose="02020603050405020304" pitchFamily="18" charset="0"/>
                <a:cs typeface="Times New Roman" panose="02020603050405020304" pitchFamily="18" charset="0"/>
              </a:rPr>
              <a:t>є основою при </a:t>
            </a:r>
            <a:r>
              <a:rPr lang="ru-RU" b="1" i="1" dirty="0" err="1">
                <a:solidFill>
                  <a:schemeClr val="tx1"/>
                </a:solidFill>
                <a:latin typeface="Times New Roman" panose="02020603050405020304" pitchFamily="18" charset="0"/>
                <a:cs typeface="Times New Roman" panose="02020603050405020304" pitchFamily="18" charset="0"/>
              </a:rPr>
              <a:t>складані</a:t>
            </a:r>
            <a:r>
              <a:rPr lang="ru-RU" b="1" i="1" dirty="0">
                <a:solidFill>
                  <a:schemeClr val="tx1"/>
                </a:solidFill>
                <a:latin typeface="Times New Roman" panose="02020603050405020304" pitchFamily="18" charset="0"/>
                <a:cs typeface="Times New Roman" panose="02020603050405020304" pitchFamily="18" charset="0"/>
              </a:rPr>
              <a:t> меню для </a:t>
            </a:r>
            <a:r>
              <a:rPr lang="ru-RU" b="1" i="1" dirty="0" err="1">
                <a:solidFill>
                  <a:schemeClr val="tx1"/>
                </a:solidFill>
                <a:latin typeface="Times New Roman" panose="02020603050405020304" pitchFamily="18" charset="0"/>
                <a:cs typeface="Times New Roman" panose="02020603050405020304" pitchFamily="18" charset="0"/>
              </a:rPr>
              <a:t>споживачів</a:t>
            </a:r>
            <a:r>
              <a:rPr lang="ru-RU" b="1" i="1" dirty="0">
                <a:solidFill>
                  <a:schemeClr val="tx1"/>
                </a:solidFill>
                <a:latin typeface="Times New Roman" panose="02020603050405020304" pitchFamily="18" charset="0"/>
                <a:cs typeface="Times New Roman" panose="02020603050405020304" pitchFamily="18" charset="0"/>
              </a:rPr>
              <a:t>, яке </a:t>
            </a:r>
            <a:r>
              <a:rPr lang="ru-RU" b="1" i="1" dirty="0" err="1">
                <a:solidFill>
                  <a:schemeClr val="tx1"/>
                </a:solidFill>
                <a:latin typeface="Times New Roman" panose="02020603050405020304" pitchFamily="18" charset="0"/>
                <a:cs typeface="Times New Roman" panose="02020603050405020304" pitchFamily="18" charset="0"/>
              </a:rPr>
              <a:t>оприлюднюється</a:t>
            </a:r>
            <a:r>
              <a:rPr lang="ru-RU" b="1" i="1" dirty="0">
                <a:solidFill>
                  <a:schemeClr val="tx1"/>
                </a:solidFill>
                <a:latin typeface="Times New Roman" panose="02020603050405020304" pitchFamily="18" charset="0"/>
                <a:cs typeface="Times New Roman" panose="02020603050405020304" pitchFamily="18" charset="0"/>
              </a:rPr>
              <a:t> в </a:t>
            </a:r>
            <a:r>
              <a:rPr lang="ru-RU" b="1" i="1" dirty="0" err="1">
                <a:solidFill>
                  <a:schemeClr val="tx1"/>
                </a:solidFill>
                <a:latin typeface="Times New Roman" panose="02020603050405020304" pitchFamily="18" charset="0"/>
                <a:cs typeface="Times New Roman" panose="02020603050405020304" pitchFamily="18" charset="0"/>
              </a:rPr>
              <a:t>залі</a:t>
            </a:r>
            <a:r>
              <a:rPr lang="ru-RU" b="1" i="1" dirty="0">
                <a:solidFill>
                  <a:schemeClr val="tx1"/>
                </a:solidFill>
                <a:latin typeface="Times New Roman" panose="02020603050405020304" pitchFamily="18" charset="0"/>
                <a:cs typeface="Times New Roman" panose="02020603050405020304" pitchFamily="18" charset="0"/>
              </a:rPr>
              <a:t> ресторану й за </a:t>
            </a:r>
            <a:r>
              <a:rPr lang="ru-RU" b="1" i="1" dirty="0" err="1">
                <a:solidFill>
                  <a:schemeClr val="tx1"/>
                </a:solidFill>
                <a:latin typeface="Times New Roman" panose="02020603050405020304" pitchFamily="18" charset="0"/>
                <a:cs typeface="Times New Roman" panose="02020603050405020304" pitchFamily="18" charset="0"/>
              </a:rPr>
              <a:t>яким</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споживачі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здійснюють</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замовлення</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smtClean="0">
                <a:solidFill>
                  <a:schemeClr val="tx1"/>
                </a:solidFill>
                <a:latin typeface="Times New Roman" panose="02020603050405020304" pitchFamily="18" charset="0"/>
                <a:cs typeface="Times New Roman" panose="02020603050405020304" pitchFamily="18" charset="0"/>
              </a:rPr>
              <a:t>страв</a:t>
            </a:r>
            <a:r>
              <a:rPr lang="ru-RU" b="1" i="1" dirty="0" smtClean="0">
                <a:solidFill>
                  <a:schemeClr val="tx1"/>
                </a:solidFill>
                <a:latin typeface="Times New Roman" panose="02020603050405020304" pitchFamily="18" charset="0"/>
                <a:cs typeface="Times New Roman" panose="02020603050405020304" pitchFamily="18" charset="0"/>
              </a:rPr>
              <a:t>.</a:t>
            </a:r>
          </a:p>
          <a:p>
            <a:pPr marL="285750" indent="-285750" algn="just">
              <a:buFont typeface="Courier New" panose="02070309020205020404" pitchFamily="49" charset="0"/>
              <a:buChar char="o"/>
            </a:pPr>
            <a:r>
              <a:rPr lang="ru-RU" b="1" i="1" dirty="0" smtClean="0">
                <a:solidFill>
                  <a:schemeClr val="tx1"/>
                </a:solidFill>
                <a:latin typeface="Times New Roman" panose="02020603050405020304" pitchFamily="18" charset="0"/>
                <a:cs typeface="Times New Roman" panose="02020603050405020304" pitchFamily="18" charset="0"/>
              </a:rPr>
              <a:t>Меню-</a:t>
            </a:r>
            <a:r>
              <a:rPr lang="ru-RU" b="1" i="1" dirty="0" err="1" smtClean="0">
                <a:solidFill>
                  <a:schemeClr val="tx1"/>
                </a:solidFill>
                <a:latin typeface="Times New Roman" panose="02020603050405020304" pitchFamily="18" charset="0"/>
                <a:cs typeface="Times New Roman" panose="02020603050405020304" pitchFamily="18" charset="0"/>
              </a:rPr>
              <a:t>замовлення</a:t>
            </a: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складається</a:t>
            </a:r>
            <a:r>
              <a:rPr lang="ru-RU" b="1" i="1" dirty="0">
                <a:solidFill>
                  <a:schemeClr val="tx1"/>
                </a:solidFill>
                <a:latin typeface="Times New Roman" panose="02020603050405020304" pitchFamily="18" charset="0"/>
                <a:cs typeface="Times New Roman" panose="02020603050405020304" pitchFamily="18" charset="0"/>
              </a:rPr>
              <a:t> при </a:t>
            </a:r>
            <a:r>
              <a:rPr lang="ru-RU" b="1" i="1" dirty="0" err="1">
                <a:solidFill>
                  <a:schemeClr val="tx1"/>
                </a:solidFill>
                <a:latin typeface="Times New Roman" panose="02020603050405020304" pitchFamily="18" charset="0"/>
                <a:cs typeface="Times New Roman" panose="02020603050405020304" pitchFamily="18" charset="0"/>
              </a:rPr>
              <a:t>отриманні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замовлення</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із</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замовником</a:t>
            </a:r>
            <a:r>
              <a:rPr lang="ru-RU" b="1" i="1" dirty="0">
                <a:solidFill>
                  <a:schemeClr val="tx1"/>
                </a:solidFill>
                <a:latin typeface="Times New Roman" panose="02020603050405020304" pitchFamily="18" charset="0"/>
                <a:cs typeface="Times New Roman" panose="02020603050405020304" pitchFamily="18" charset="0"/>
              </a:rPr>
              <a:t> не </a:t>
            </a:r>
            <a:r>
              <a:rPr lang="ru-RU" b="1" i="1" dirty="0" err="1">
                <a:solidFill>
                  <a:schemeClr val="tx1"/>
                </a:solidFill>
                <a:latin typeface="Times New Roman" panose="02020603050405020304" pitchFamily="18" charset="0"/>
                <a:cs typeface="Times New Roman" panose="02020603050405020304" pitchFamily="18" charset="0"/>
              </a:rPr>
              <a:t>менше</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ніж</a:t>
            </a:r>
            <a:r>
              <a:rPr lang="ru-RU" b="1" i="1" dirty="0">
                <a:solidFill>
                  <a:schemeClr val="tx1"/>
                </a:solidFill>
                <a:latin typeface="Times New Roman" panose="02020603050405020304" pitchFamily="18" charset="0"/>
                <a:cs typeface="Times New Roman" panose="02020603050405020304" pitchFamily="18" charset="0"/>
              </a:rPr>
              <a:t> за 2 дня до початку </a:t>
            </a:r>
            <a:r>
              <a:rPr lang="ru-RU" b="1" i="1" dirty="0" err="1">
                <a:solidFill>
                  <a:schemeClr val="tx1"/>
                </a:solidFill>
                <a:latin typeface="Times New Roman" panose="02020603050405020304" pitchFamily="18" charset="0"/>
                <a:cs typeface="Times New Roman" panose="02020603050405020304" pitchFamily="18" charset="0"/>
              </a:rPr>
              <a:t>проведення</a:t>
            </a:r>
            <a:r>
              <a:rPr lang="ru-RU" b="1" i="1" dirty="0">
                <a:solidFill>
                  <a:schemeClr val="tx1"/>
                </a:solidFill>
                <a:latin typeface="Times New Roman" panose="02020603050405020304" pitchFamily="18" charset="0"/>
                <a:cs typeface="Times New Roman" panose="02020603050405020304" pitchFamily="18" charset="0"/>
              </a:rPr>
              <a:t> заходу</a:t>
            </a:r>
            <a:r>
              <a:rPr lang="ru-RU" b="1" i="1" dirty="0" smtClean="0">
                <a:solidFill>
                  <a:schemeClr val="tx1"/>
                </a:solidFill>
                <a:latin typeface="Times New Roman" panose="02020603050405020304" pitchFamily="18" charset="0"/>
                <a:cs typeface="Times New Roman" panose="02020603050405020304" pitchFamily="18" charset="0"/>
              </a:rPr>
              <a:t>.</a:t>
            </a:r>
          </a:p>
          <a:p>
            <a:pPr marL="285750" indent="-285750" algn="just">
              <a:buFont typeface="Courier New" panose="02070309020205020404" pitchFamily="49" charset="0"/>
              <a:buChar char="o"/>
            </a:pPr>
            <a:r>
              <a:rPr lang="ru-RU" b="1" i="1" dirty="0" smtClean="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Технологічна</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картка</a:t>
            </a:r>
            <a:r>
              <a:rPr lang="ru-RU" b="1" i="1" dirty="0">
                <a:solidFill>
                  <a:schemeClr val="tx1"/>
                </a:solidFill>
                <a:latin typeface="Times New Roman" panose="02020603050405020304" pitchFamily="18" charset="0"/>
                <a:cs typeface="Times New Roman" panose="02020603050405020304" pitchFamily="18" charset="0"/>
              </a:rPr>
              <a:t> є документом, </a:t>
            </a:r>
            <a:r>
              <a:rPr lang="ru-RU" b="1" i="1" dirty="0" err="1">
                <a:solidFill>
                  <a:schemeClr val="tx1"/>
                </a:solidFill>
                <a:latin typeface="Times New Roman" panose="02020603050405020304" pitchFamily="18" charset="0"/>
                <a:cs typeface="Times New Roman" panose="02020603050405020304" pitchFamily="18" charset="0"/>
              </a:rPr>
              <a:t>який</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складається</a:t>
            </a:r>
            <a:r>
              <a:rPr lang="ru-RU" b="1" i="1" dirty="0">
                <a:solidFill>
                  <a:schemeClr val="tx1"/>
                </a:solidFill>
                <a:latin typeface="Times New Roman" panose="02020603050405020304" pitchFamily="18" charset="0"/>
                <a:cs typeface="Times New Roman" panose="02020603050405020304" pitchFamily="18" charset="0"/>
              </a:rPr>
              <a:t> менеджерами </a:t>
            </a:r>
            <a:r>
              <a:rPr lang="ru-RU" b="1" i="1" dirty="0" err="1">
                <a:solidFill>
                  <a:schemeClr val="tx1"/>
                </a:solidFill>
                <a:latin typeface="Times New Roman" panose="02020603050405020304" pitchFamily="18" charset="0"/>
                <a:cs typeface="Times New Roman" panose="02020603050405020304" pitchFamily="18" charset="0"/>
              </a:rPr>
              <a:t>виробництва</a:t>
            </a:r>
            <a:r>
              <a:rPr lang="ru-RU" b="1" i="1" dirty="0">
                <a:solidFill>
                  <a:schemeClr val="tx1"/>
                </a:solidFill>
                <a:latin typeface="Times New Roman" panose="02020603050405020304" pitchFamily="18" charset="0"/>
                <a:cs typeface="Times New Roman" panose="02020603050405020304" pitchFamily="18" charset="0"/>
              </a:rPr>
              <a:t> для </a:t>
            </a:r>
            <a:r>
              <a:rPr lang="ru-RU" b="1" i="1" dirty="0" err="1">
                <a:solidFill>
                  <a:schemeClr val="tx1"/>
                </a:solidFill>
                <a:latin typeface="Times New Roman" panose="02020603050405020304" pitchFamily="18" charset="0"/>
                <a:cs typeface="Times New Roman" panose="02020603050405020304" pitchFamily="18" charset="0"/>
              </a:rPr>
              <a:t>кухарів</a:t>
            </a:r>
            <a:r>
              <a:rPr lang="ru-RU" b="1" i="1" dirty="0">
                <a:solidFill>
                  <a:schemeClr val="tx1"/>
                </a:solidFill>
                <a:latin typeface="Times New Roman" panose="02020603050405020304" pitchFamily="18" charset="0"/>
                <a:cs typeface="Times New Roman" panose="02020603050405020304" pitchFamily="18" charset="0"/>
              </a:rPr>
              <a:t> та </a:t>
            </a:r>
            <a:r>
              <a:rPr lang="ru-RU" b="1" i="1" dirty="0" err="1">
                <a:solidFill>
                  <a:schemeClr val="tx1"/>
                </a:solidFill>
                <a:latin typeface="Times New Roman" panose="02020603050405020304" pitchFamily="18" charset="0"/>
                <a:cs typeface="Times New Roman" panose="02020603050405020304" pitchFamily="18" charset="0"/>
              </a:rPr>
              <a:t>кондитерів</a:t>
            </a:r>
            <a:r>
              <a:rPr lang="ru-RU" b="1" i="1" dirty="0">
                <a:solidFill>
                  <a:schemeClr val="tx1"/>
                </a:solidFill>
                <a:latin typeface="Times New Roman" panose="02020603050405020304" pitchFamily="18" charset="0"/>
                <a:cs typeface="Times New Roman" panose="02020603050405020304" pitchFamily="18" charset="0"/>
              </a:rPr>
              <a:t> для </a:t>
            </a:r>
            <a:r>
              <a:rPr lang="ru-RU" b="1" i="1" dirty="0" err="1">
                <a:solidFill>
                  <a:schemeClr val="tx1"/>
                </a:solidFill>
                <a:latin typeface="Times New Roman" panose="02020603050405020304" pitchFamily="18" charset="0"/>
                <a:cs typeface="Times New Roman" panose="02020603050405020304" pitchFamily="18" charset="0"/>
              </a:rPr>
              <a:t>забезпечення</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високого</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рівня</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технологічних</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процесів</a:t>
            </a:r>
            <a:r>
              <a:rPr lang="ru-RU" b="1" i="1" dirty="0">
                <a:solidFill>
                  <a:schemeClr val="tx1"/>
                </a:solidFill>
                <a:latin typeface="Times New Roman" panose="02020603050405020304" pitchFamily="18" charset="0"/>
                <a:cs typeface="Times New Roman" panose="02020603050405020304" pitchFamily="18" charset="0"/>
              </a:rPr>
              <a:t> і </a:t>
            </a:r>
            <a:r>
              <a:rPr lang="ru-RU" b="1" i="1" dirty="0" err="1">
                <a:solidFill>
                  <a:schemeClr val="tx1"/>
                </a:solidFill>
                <a:latin typeface="Times New Roman" panose="02020603050405020304" pitchFamily="18" charset="0"/>
                <a:cs typeface="Times New Roman" panose="02020603050405020304" pitchFamily="18" charset="0"/>
              </a:rPr>
              <a:t>випуску</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продукції</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високої</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якості</a:t>
            </a:r>
            <a:r>
              <a:rPr lang="ru-RU" b="1" i="1" dirty="0">
                <a:solidFill>
                  <a:schemeClr val="tx1"/>
                </a:solidFill>
                <a:latin typeface="Times New Roman" panose="02020603050405020304" pitchFamily="18" charset="0"/>
                <a:cs typeface="Times New Roman" panose="02020603050405020304" pitchFamily="18" charset="0"/>
              </a:rPr>
              <a:t>.</a:t>
            </a:r>
            <a:endParaRPr lang="uk-UA"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4905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94891" y="64698"/>
            <a:ext cx="3735238" cy="1367287"/>
          </a:xfrm>
          <a:prstGeom prst="ellipse">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800" b="1" i="1" dirty="0">
                <a:solidFill>
                  <a:schemeClr val="tx1"/>
                </a:solidFill>
                <a:latin typeface="Times New Roman" panose="02020603050405020304" pitchFamily="18" charset="0"/>
                <a:cs typeface="Times New Roman" panose="02020603050405020304" pitchFamily="18" charset="0"/>
              </a:rPr>
              <a:t>1.4 Просування ресторану </a:t>
            </a:r>
          </a:p>
        </p:txBody>
      </p:sp>
      <p:sp>
        <p:nvSpPr>
          <p:cNvPr id="5" name="Скругленный прямоугольник 4"/>
          <p:cNvSpPr/>
          <p:nvPr/>
        </p:nvSpPr>
        <p:spPr>
          <a:xfrm>
            <a:off x="5184475" y="487393"/>
            <a:ext cx="4727277" cy="1526875"/>
          </a:xfrm>
          <a:prstGeom prst="roundRect">
            <a:avLst/>
          </a:prstGeom>
          <a:solidFill>
            <a:schemeClr val="accent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b="1" i="1" dirty="0" err="1">
                <a:solidFill>
                  <a:schemeClr val="tx1"/>
                </a:solidFill>
                <a:latin typeface="Times New Roman" panose="02020603050405020304" pitchFamily="18" charset="0"/>
                <a:cs typeface="Times New Roman" panose="02020603050405020304" pitchFamily="18" charset="0"/>
              </a:rPr>
              <a:t>Популярні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способи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розкрутки</a:t>
            </a:r>
            <a:r>
              <a:rPr lang="ru-RU" b="1" i="1" dirty="0">
                <a:solidFill>
                  <a:schemeClr val="tx1"/>
                </a:solidFill>
                <a:latin typeface="Times New Roman" panose="02020603050405020304" pitchFamily="18" charset="0"/>
                <a:cs typeface="Times New Roman" panose="02020603050405020304" pitchFamily="18" charset="0"/>
              </a:rPr>
              <a:t> ресторану – </a:t>
            </a:r>
            <a:r>
              <a:rPr lang="ru-RU" b="1" i="1" dirty="0" err="1">
                <a:solidFill>
                  <a:schemeClr val="tx1"/>
                </a:solidFill>
                <a:latin typeface="Times New Roman" panose="02020603050405020304" pitchFamily="18" charset="0"/>
                <a:cs typeface="Times New Roman" panose="02020603050405020304" pitchFamily="18" charset="0"/>
              </a:rPr>
              <a:t>банери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флаєри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візитки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картки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постійних</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клієнтів</a:t>
            </a:r>
            <a:r>
              <a:rPr lang="ru-RU" b="1" i="1" dirty="0">
                <a:solidFill>
                  <a:schemeClr val="tx1"/>
                </a:solidFill>
                <a:latin typeface="Times New Roman" panose="02020603050405020304" pitchFamily="18" charset="0"/>
                <a:cs typeface="Times New Roman" panose="02020603050405020304" pitchFamily="18" charset="0"/>
              </a:rPr>
              <a:t>, реклама на </a:t>
            </a:r>
            <a:r>
              <a:rPr lang="ru-RU" b="1" i="1" dirty="0" err="1">
                <a:solidFill>
                  <a:schemeClr val="tx1"/>
                </a:solidFill>
                <a:latin typeface="Times New Roman" panose="02020603050405020304" pitchFamily="18" charset="0"/>
                <a:cs typeface="Times New Roman" panose="02020603050405020304" pitchFamily="18" charset="0"/>
              </a:rPr>
              <a:t>радіо</a:t>
            </a:r>
            <a:r>
              <a:rPr lang="ru-RU" b="1" i="1" dirty="0">
                <a:solidFill>
                  <a:schemeClr val="tx1"/>
                </a:solidFill>
                <a:latin typeface="Times New Roman" panose="02020603050405020304" pitchFamily="18" charset="0"/>
                <a:cs typeface="Times New Roman" panose="02020603050405020304" pitchFamily="18" charset="0"/>
              </a:rPr>
              <a:t> та реклама в </a:t>
            </a:r>
            <a:r>
              <a:rPr lang="ru-RU" b="1" i="1" dirty="0" err="1">
                <a:solidFill>
                  <a:schemeClr val="tx1"/>
                </a:solidFill>
                <a:latin typeface="Times New Roman" panose="02020603050405020304" pitchFamily="18" charset="0"/>
                <a:cs typeface="Times New Roman" panose="02020603050405020304" pitchFamily="18" charset="0"/>
              </a:rPr>
              <a:t>соціальних</a:t>
            </a:r>
            <a:r>
              <a:rPr lang="ru-RU" b="1" i="1" dirty="0">
                <a:solidFill>
                  <a:schemeClr val="tx1"/>
                </a:solidFill>
                <a:latin typeface="Times New Roman" panose="02020603050405020304" pitchFamily="18" charset="0"/>
                <a:cs typeface="Times New Roman" panose="02020603050405020304" pitchFamily="18" charset="0"/>
              </a:rPr>
              <a:t> мережах.</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6" name="Скругленный прямоугольник 5"/>
          <p:cNvSpPr/>
          <p:nvPr/>
        </p:nvSpPr>
        <p:spPr>
          <a:xfrm>
            <a:off x="215659" y="2096220"/>
            <a:ext cx="4632386" cy="1915064"/>
          </a:xfrm>
          <a:prstGeom prst="roundRect">
            <a:avLst/>
          </a:prstGeom>
          <a:solidFill>
            <a:schemeClr val="accent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b="1" i="1" dirty="0" err="1">
                <a:solidFill>
                  <a:schemeClr val="tx1"/>
                </a:solidFill>
                <a:latin typeface="Times New Roman" panose="02020603050405020304" pitchFamily="18" charset="0"/>
                <a:cs typeface="Times New Roman" panose="02020603050405020304" pitchFamily="18" charset="0"/>
              </a:rPr>
              <a:t>Найбільш</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важливі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аспекти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просування</a:t>
            </a:r>
            <a:r>
              <a:rPr lang="ru-RU" b="1" i="1" dirty="0">
                <a:solidFill>
                  <a:schemeClr val="tx1"/>
                </a:solidFill>
                <a:latin typeface="Times New Roman" panose="02020603050405020304" pitchFamily="18" charset="0"/>
                <a:cs typeface="Times New Roman" panose="02020603050405020304" pitchFamily="18" charset="0"/>
              </a:rPr>
              <a:t> ресторану</a:t>
            </a:r>
            <a:r>
              <a:rPr lang="ru-RU" b="1" i="1" dirty="0" smtClean="0">
                <a:solidFill>
                  <a:schemeClr val="tx1"/>
                </a:solidFill>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q"/>
            </a:pPr>
            <a:r>
              <a:rPr lang="ru-RU" b="1" i="1" dirty="0" err="1">
                <a:solidFill>
                  <a:schemeClr val="tx1"/>
                </a:solidFill>
                <a:latin typeface="Times New Roman" panose="02020603050405020304" pitchFamily="18" charset="0"/>
                <a:cs typeface="Times New Roman" panose="02020603050405020304" pitchFamily="18" charset="0"/>
              </a:rPr>
              <a:t>Чітке</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позиціонування</a:t>
            </a:r>
            <a:endParaRPr lang="ru-RU" b="1" i="1"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uk-UA" b="1" i="1" dirty="0">
                <a:solidFill>
                  <a:schemeClr val="tx1"/>
                </a:solidFill>
                <a:latin typeface="Times New Roman" panose="02020603050405020304" pitchFamily="18" charset="0"/>
                <a:cs typeface="Times New Roman" panose="02020603050405020304" pitchFamily="18" charset="0"/>
              </a:rPr>
              <a:t>Послідовне просування</a:t>
            </a:r>
          </a:p>
          <a:p>
            <a:pPr marL="285750" indent="-285750" algn="just">
              <a:buFont typeface="Wingdings" panose="05000000000000000000" pitchFamily="2" charset="2"/>
              <a:buChar char="q"/>
            </a:pPr>
            <a:r>
              <a:rPr lang="uk-UA" b="1" i="1" dirty="0">
                <a:solidFill>
                  <a:schemeClr val="tx1"/>
                </a:solidFill>
                <a:latin typeface="Times New Roman" panose="02020603050405020304" pitchFamily="18" charset="0"/>
                <a:cs typeface="Times New Roman" panose="02020603050405020304" pitchFamily="18" charset="0"/>
              </a:rPr>
              <a:t>Рекламна ідея</a:t>
            </a:r>
          </a:p>
          <a:p>
            <a:pPr marL="285750" indent="-285750" algn="just">
              <a:buFont typeface="Wingdings" panose="05000000000000000000" pitchFamily="2" charset="2"/>
              <a:buChar char="q"/>
            </a:pPr>
            <a:r>
              <a:rPr lang="uk-UA" b="1" i="1" dirty="0">
                <a:solidFill>
                  <a:schemeClr val="tx1"/>
                </a:solidFill>
                <a:latin typeface="Times New Roman" panose="02020603050405020304" pitchFamily="18" charset="0"/>
                <a:cs typeface="Times New Roman" panose="02020603050405020304" pitchFamily="18" charset="0"/>
              </a:rPr>
              <a:t>Зайва економія</a:t>
            </a:r>
          </a:p>
          <a:p>
            <a:pPr marL="285750" indent="-285750" algn="just">
              <a:buFont typeface="Wingdings" panose="05000000000000000000" pitchFamily="2" charset="2"/>
              <a:buChar char="q"/>
            </a:pPr>
            <a:r>
              <a:rPr lang="uk-UA" b="1" i="1" dirty="0">
                <a:solidFill>
                  <a:schemeClr val="tx1"/>
                </a:solidFill>
                <a:latin typeface="Times New Roman" panose="02020603050405020304" pitchFamily="18" charset="0"/>
                <a:cs typeface="Times New Roman" panose="02020603050405020304" pitchFamily="18" charset="0"/>
              </a:rPr>
              <a:t>Нездійсненні очікування</a:t>
            </a:r>
          </a:p>
        </p:txBody>
      </p:sp>
      <p:sp>
        <p:nvSpPr>
          <p:cNvPr id="7" name="Скругленный прямоугольник 6"/>
          <p:cNvSpPr/>
          <p:nvPr/>
        </p:nvSpPr>
        <p:spPr>
          <a:xfrm>
            <a:off x="5184475" y="3053752"/>
            <a:ext cx="6211019" cy="2950233"/>
          </a:xfrm>
          <a:prstGeom prst="roundRect">
            <a:avLst/>
          </a:prstGeom>
          <a:solidFill>
            <a:schemeClr val="accent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b="1" i="1" dirty="0" err="1">
                <a:solidFill>
                  <a:schemeClr val="tx1"/>
                </a:solidFill>
                <a:latin typeface="Times New Roman" panose="02020603050405020304" pitchFamily="18" charset="0"/>
                <a:cs typeface="Times New Roman" panose="02020603050405020304" pitchFamily="18" charset="0"/>
              </a:rPr>
              <a:t>Інтернет</a:t>
            </a:r>
            <a:r>
              <a:rPr lang="ru-RU" b="1" i="1" dirty="0">
                <a:solidFill>
                  <a:schemeClr val="tx1"/>
                </a:solidFill>
                <a:latin typeface="Times New Roman" panose="02020603050405020304" pitchFamily="18" charset="0"/>
                <a:cs typeface="Times New Roman" panose="02020603050405020304" pitchFamily="18" charset="0"/>
              </a:rPr>
              <a:t> як </a:t>
            </a:r>
            <a:r>
              <a:rPr lang="ru-RU" b="1" i="1" dirty="0" err="1">
                <a:solidFill>
                  <a:schemeClr val="tx1"/>
                </a:solidFill>
                <a:latin typeface="Times New Roman" panose="02020603050405020304" pitchFamily="18" charset="0"/>
                <a:cs typeface="Times New Roman" panose="02020603050405020304" pitchFamily="18" charset="0"/>
              </a:rPr>
              <a:t>засіб</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передачі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інформації</a:t>
            </a:r>
            <a:r>
              <a:rPr lang="ru-RU" b="1" i="1" dirty="0">
                <a:solidFill>
                  <a:schemeClr val="tx1"/>
                </a:solidFill>
                <a:latin typeface="Times New Roman" panose="02020603050405020304" pitchFamily="18" charset="0"/>
                <a:cs typeface="Times New Roman" panose="02020603050405020304" pitchFamily="18" charset="0"/>
              </a:rPr>
              <a:t>, як реклама і </a:t>
            </a:r>
            <a:r>
              <a:rPr lang="ru-RU" b="1" i="1" dirty="0" err="1">
                <a:solidFill>
                  <a:schemeClr val="tx1"/>
                </a:solidFill>
                <a:latin typeface="Times New Roman" panose="02020603050405020304" pitchFamily="18" charset="0"/>
                <a:cs typeface="Times New Roman" panose="02020603050405020304" pitchFamily="18" charset="0"/>
              </a:rPr>
              <a:t>інформатор</a:t>
            </a:r>
            <a:r>
              <a:rPr lang="ru-RU" b="1" i="1" dirty="0">
                <a:solidFill>
                  <a:schemeClr val="tx1"/>
                </a:solidFill>
                <a:latin typeface="Times New Roman" panose="02020603050405020304" pitchFamily="18" charset="0"/>
                <a:cs typeface="Times New Roman" panose="02020603050405020304" pitchFamily="18" charset="0"/>
              </a:rPr>
              <a:t>. Ось за </a:t>
            </a:r>
            <a:r>
              <a:rPr lang="ru-RU" b="1" i="1" dirty="0" err="1">
                <a:solidFill>
                  <a:schemeClr val="tx1"/>
                </a:solidFill>
                <a:latin typeface="Times New Roman" panose="02020603050405020304" pitchFamily="18" charset="0"/>
                <a:cs typeface="Times New Roman" panose="02020603050405020304" pitchFamily="18" charset="0"/>
              </a:rPr>
              <a:t>що</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тепер</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борються</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також</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ресторатори</a:t>
            </a:r>
            <a:r>
              <a:rPr lang="ru-RU" b="1" i="1" dirty="0">
                <a:solidFill>
                  <a:schemeClr val="tx1"/>
                </a:solidFill>
                <a:latin typeface="Times New Roman" panose="02020603050405020304" pitchFamily="18" charset="0"/>
                <a:cs typeface="Times New Roman" panose="02020603050405020304" pitchFamily="18" charset="0"/>
              </a:rPr>
              <a:t>. </a:t>
            </a:r>
            <a:endParaRPr lang="ru-RU" b="1" i="1" dirty="0" smtClean="0">
              <a:solidFill>
                <a:schemeClr val="tx1"/>
              </a:solidFill>
              <a:latin typeface="Times New Roman" panose="02020603050405020304" pitchFamily="18" charset="0"/>
              <a:cs typeface="Times New Roman" panose="02020603050405020304" pitchFamily="18" charset="0"/>
            </a:endParaRPr>
          </a:p>
          <a:p>
            <a:pPr algn="just"/>
            <a:r>
              <a:rPr lang="ru-RU" b="1" i="1" dirty="0" smtClean="0">
                <a:solidFill>
                  <a:schemeClr val="tx1"/>
                </a:solidFill>
                <a:latin typeface="Times New Roman" panose="02020603050405020304" pitchFamily="18" charset="0"/>
                <a:cs typeface="Times New Roman" panose="02020603050405020304" pitchFamily="18" charset="0"/>
              </a:rPr>
              <a:t>За </a:t>
            </a:r>
            <a:r>
              <a:rPr lang="ru-RU" b="1" i="1" dirty="0" err="1">
                <a:solidFill>
                  <a:schemeClr val="tx1"/>
                </a:solidFill>
                <a:latin typeface="Times New Roman" panose="02020603050405020304" pitchFamily="18" charset="0"/>
                <a:cs typeface="Times New Roman" panose="02020603050405020304" pitchFamily="18" charset="0"/>
              </a:rPr>
              <a:t>допомогою</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інтернету</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набагато</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легше</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знайти</a:t>
            </a:r>
            <a:r>
              <a:rPr lang="ru-RU" b="1" i="1" dirty="0">
                <a:solidFill>
                  <a:schemeClr val="tx1"/>
                </a:solidFill>
                <a:latin typeface="Times New Roman" panose="02020603050405020304" pitchFamily="18" charset="0"/>
                <a:cs typeface="Times New Roman" panose="02020603050405020304" pitchFamily="18" charset="0"/>
              </a:rPr>
              <a:t> ресторан </a:t>
            </a:r>
            <a:r>
              <a:rPr lang="ru-RU" b="1" i="1" dirty="0" err="1">
                <a:solidFill>
                  <a:schemeClr val="tx1"/>
                </a:solidFill>
                <a:latin typeface="Times New Roman" panose="02020603050405020304" pitchFamily="18" charset="0"/>
                <a:cs typeface="Times New Roman" panose="02020603050405020304" pitchFamily="18" charset="0"/>
              </a:rPr>
              <a:t>або</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інший</a:t>
            </a:r>
            <a:r>
              <a:rPr lang="ru-RU" b="1" i="1" dirty="0">
                <a:solidFill>
                  <a:schemeClr val="tx1"/>
                </a:solidFill>
                <a:latin typeface="Times New Roman" panose="02020603050405020304" pitchFamily="18" charset="0"/>
                <a:cs typeface="Times New Roman" panose="02020603050405020304" pitchFamily="18" charset="0"/>
              </a:rPr>
              <a:t> заклад. </a:t>
            </a:r>
            <a:r>
              <a:rPr lang="ru-RU" b="1" i="1" dirty="0" err="1">
                <a:solidFill>
                  <a:schemeClr val="tx1"/>
                </a:solidFill>
                <a:latin typeface="Times New Roman" panose="02020603050405020304" pitchFamily="18" charset="0"/>
                <a:cs typeface="Times New Roman" panose="02020603050405020304" pitchFamily="18" charset="0"/>
              </a:rPr>
              <a:t>Можна</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заздалегідь</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ознайомитися</a:t>
            </a:r>
            <a:r>
              <a:rPr lang="ru-RU" b="1" i="1" dirty="0">
                <a:solidFill>
                  <a:schemeClr val="tx1"/>
                </a:solidFill>
                <a:latin typeface="Times New Roman" panose="02020603050405020304" pitchFamily="18" charset="0"/>
                <a:cs typeface="Times New Roman" panose="02020603050405020304" pitchFamily="18" charset="0"/>
              </a:rPr>
              <a:t> з </a:t>
            </a:r>
            <a:r>
              <a:rPr lang="ru-RU" b="1" i="1" dirty="0" err="1">
                <a:solidFill>
                  <a:schemeClr val="tx1"/>
                </a:solidFill>
                <a:latin typeface="Times New Roman" panose="02020603050405020304" pitchFamily="18" charset="0"/>
                <a:cs typeface="Times New Roman" panose="02020603050405020304" pitchFamily="18" charset="0"/>
              </a:rPr>
              <a:t>кухнею</a:t>
            </a:r>
            <a:r>
              <a:rPr lang="ru-RU" b="1" i="1" dirty="0">
                <a:solidFill>
                  <a:schemeClr val="tx1"/>
                </a:solidFill>
                <a:latin typeface="Times New Roman" panose="02020603050405020304" pitchFamily="18" charset="0"/>
                <a:cs typeface="Times New Roman" panose="02020603050405020304" pitchFamily="18" charset="0"/>
              </a:rPr>
              <a:t> і </a:t>
            </a:r>
            <a:r>
              <a:rPr lang="ru-RU" b="1" i="1" dirty="0" err="1">
                <a:solidFill>
                  <a:schemeClr val="tx1"/>
                </a:solidFill>
                <a:latin typeface="Times New Roman" panose="02020603050405020304" pitchFamily="18" charset="0"/>
                <a:cs typeface="Times New Roman" panose="02020603050405020304" pitchFamily="18" charset="0"/>
              </a:rPr>
              <a:t>навіть</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інтер'єрів</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ще</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жодного</a:t>
            </a:r>
            <a:r>
              <a:rPr lang="ru-RU" b="1" i="1" dirty="0">
                <a:solidFill>
                  <a:schemeClr val="tx1"/>
                </a:solidFill>
                <a:latin typeface="Times New Roman" panose="02020603050405020304" pitchFamily="18" charset="0"/>
                <a:cs typeface="Times New Roman" panose="02020603050405020304" pitchFamily="18" charset="0"/>
              </a:rPr>
              <a:t> разу не ступивши на </a:t>
            </a:r>
            <a:r>
              <a:rPr lang="ru-RU" b="1" i="1" dirty="0" err="1">
                <a:solidFill>
                  <a:schemeClr val="tx1"/>
                </a:solidFill>
                <a:latin typeface="Times New Roman" panose="02020603050405020304" pitchFamily="18" charset="0"/>
                <a:cs typeface="Times New Roman" panose="02020603050405020304" pitchFamily="18" charset="0"/>
              </a:rPr>
              <a:t>поріг</a:t>
            </a:r>
            <a:r>
              <a:rPr lang="ru-RU" b="1" i="1" dirty="0">
                <a:solidFill>
                  <a:schemeClr val="tx1"/>
                </a:solidFill>
                <a:latin typeface="Times New Roman" panose="02020603050405020304" pitchFamily="18" charset="0"/>
                <a:cs typeface="Times New Roman" panose="02020603050405020304" pitchFamily="18" charset="0"/>
              </a:rPr>
              <a:t> ресторану. Для активного </a:t>
            </a:r>
            <a:r>
              <a:rPr lang="ru-RU" b="1" i="1" dirty="0" err="1">
                <a:solidFill>
                  <a:schemeClr val="tx1"/>
                </a:solidFill>
                <a:latin typeface="Times New Roman" panose="02020603050405020304" pitchFamily="18" charset="0"/>
                <a:cs typeface="Times New Roman" panose="02020603050405020304" pitchFamily="18" charset="0"/>
              </a:rPr>
              <a:t>просування</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ресторатори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ведуть</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цілі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співтовариства</a:t>
            </a:r>
            <a:r>
              <a:rPr lang="ru-RU" b="1" i="1" dirty="0">
                <a:solidFill>
                  <a:schemeClr val="tx1"/>
                </a:solidFill>
                <a:latin typeface="Times New Roman" panose="02020603050405020304" pitchFamily="18" charset="0"/>
                <a:cs typeface="Times New Roman" panose="02020603050405020304" pitchFamily="18" charset="0"/>
              </a:rPr>
              <a:t> в </a:t>
            </a:r>
            <a:r>
              <a:rPr lang="ru-RU" b="1" i="1" dirty="0" err="1">
                <a:solidFill>
                  <a:schemeClr val="tx1"/>
                </a:solidFill>
                <a:latin typeface="Times New Roman" panose="02020603050405020304" pitchFamily="18" charset="0"/>
                <a:cs typeface="Times New Roman" panose="02020603050405020304" pitchFamily="18" charset="0"/>
              </a:rPr>
              <a:t>соціальних</a:t>
            </a:r>
            <a:r>
              <a:rPr lang="ru-RU" b="1" i="1" dirty="0">
                <a:solidFill>
                  <a:schemeClr val="tx1"/>
                </a:solidFill>
                <a:latin typeface="Times New Roman" panose="02020603050405020304" pitchFamily="18" charset="0"/>
                <a:cs typeface="Times New Roman" panose="02020603050405020304" pitchFamily="18" charset="0"/>
              </a:rPr>
              <a:t> мережах, </a:t>
            </a:r>
            <a:r>
              <a:rPr lang="ru-RU" b="1" i="1" dirty="0" err="1">
                <a:solidFill>
                  <a:schemeClr val="tx1"/>
                </a:solidFill>
                <a:latin typeface="Times New Roman" panose="02020603050405020304" pitchFamily="18" charset="0"/>
                <a:cs typeface="Times New Roman" panose="02020603050405020304" pitchFamily="18" charset="0"/>
              </a:rPr>
              <a:t>заохочують</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коментарі</a:t>
            </a:r>
            <a:r>
              <a:rPr lang="ru-RU" b="1" i="1" dirty="0">
                <a:solidFill>
                  <a:schemeClr val="tx1"/>
                </a:solidFill>
                <a:latin typeface="Times New Roman" panose="02020603050405020304" pitchFamily="18" charset="0"/>
                <a:cs typeface="Times New Roman" panose="02020603050405020304" pitchFamily="18" charset="0"/>
              </a:rPr>
              <a:t> та </a:t>
            </a:r>
            <a:r>
              <a:rPr lang="ru-RU" b="1" i="1" dirty="0" err="1">
                <a:solidFill>
                  <a:schemeClr val="tx1"/>
                </a:solidFill>
                <a:latin typeface="Times New Roman" panose="02020603050405020304" pitchFamily="18" charset="0"/>
                <a:cs typeface="Times New Roman" panose="02020603050405020304" pitchFamily="18" charset="0"/>
              </a:rPr>
              <a:t>інформацію</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відвідувачів</a:t>
            </a:r>
            <a:r>
              <a:rPr lang="ru-RU" b="1" i="1" dirty="0">
                <a:solidFill>
                  <a:schemeClr val="tx1"/>
                </a:solidFill>
                <a:latin typeface="Times New Roman" panose="02020603050405020304" pitchFamily="18" charset="0"/>
                <a:cs typeface="Times New Roman" panose="02020603050405020304" pitchFamily="18" charset="0"/>
              </a:rPr>
              <a:t> про </a:t>
            </a:r>
            <a:r>
              <a:rPr lang="ru-RU" b="1" i="1" dirty="0" err="1">
                <a:solidFill>
                  <a:schemeClr val="tx1"/>
                </a:solidFill>
                <a:latin typeface="Times New Roman" panose="02020603050405020304" pitchFamily="18" charset="0"/>
                <a:cs typeface="Times New Roman" panose="02020603050405020304" pitchFamily="18" charset="0"/>
              </a:rPr>
              <a:t>свій</a:t>
            </a:r>
            <a:r>
              <a:rPr lang="ru-RU" b="1" i="1" dirty="0">
                <a:solidFill>
                  <a:schemeClr val="tx1"/>
                </a:solidFill>
                <a:latin typeface="Times New Roman" panose="02020603050405020304" pitchFamily="18" charset="0"/>
                <a:cs typeface="Times New Roman" panose="02020603050405020304" pitchFamily="18" charset="0"/>
              </a:rPr>
              <a:t> заклад.</a:t>
            </a:r>
            <a:endParaRPr lang="uk-UA" b="1"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488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120769" y="146650"/>
            <a:ext cx="4718649" cy="1587260"/>
          </a:xfrm>
          <a:prstGeom prst="ellipse">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i="1" dirty="0">
                <a:solidFill>
                  <a:schemeClr val="tx1"/>
                </a:solidFill>
                <a:latin typeface="Times New Roman" panose="02020603050405020304" pitchFamily="18" charset="0"/>
                <a:cs typeface="Times New Roman" panose="02020603050405020304" pitchFamily="18" charset="0"/>
              </a:rPr>
              <a:t>1.5 </a:t>
            </a:r>
            <a:r>
              <a:rPr lang="ru-RU" sz="2400" b="1" i="1" dirty="0" err="1">
                <a:solidFill>
                  <a:schemeClr val="tx1"/>
                </a:solidFill>
                <a:latin typeface="Times New Roman" panose="02020603050405020304" pitchFamily="18" charset="0"/>
                <a:cs typeface="Times New Roman" panose="02020603050405020304" pitchFamily="18" charset="0"/>
              </a:rPr>
              <a:t>Особливості</a:t>
            </a:r>
            <a:r>
              <a:rPr lang="ru-RU" sz="2400" b="1" i="1" dirty="0">
                <a:solidFill>
                  <a:schemeClr val="tx1"/>
                </a:solidFill>
                <a:latin typeface="Times New Roman" panose="02020603050405020304" pitchFamily="18" charset="0"/>
                <a:cs typeface="Times New Roman" panose="02020603050405020304" pitchFamily="18" charset="0"/>
              </a:rPr>
              <a:t> бізнес-процесів </a:t>
            </a:r>
            <a:r>
              <a:rPr lang="ru-RU" sz="2400" b="1" i="1" dirty="0" err="1">
                <a:solidFill>
                  <a:schemeClr val="tx1"/>
                </a:solidFill>
                <a:latin typeface="Times New Roman" panose="02020603050405020304" pitchFamily="18" charset="0"/>
                <a:cs typeface="Times New Roman" panose="02020603050405020304" pitchFamily="18" charset="0"/>
              </a:rPr>
              <a:t>субʼєктів</a:t>
            </a:r>
            <a:r>
              <a:rPr lang="ru-RU" sz="2400" b="1" i="1" dirty="0">
                <a:solidFill>
                  <a:schemeClr val="tx1"/>
                </a:solidFill>
                <a:latin typeface="Times New Roman" panose="02020603050405020304" pitchFamily="18" charset="0"/>
                <a:cs typeface="Times New Roman" panose="02020603050405020304" pitchFamily="18" charset="0"/>
              </a:rPr>
              <a:t> ресторанного </a:t>
            </a:r>
            <a:r>
              <a:rPr lang="ru-RU" sz="2400" b="1" i="1" dirty="0" err="1">
                <a:solidFill>
                  <a:schemeClr val="tx1"/>
                </a:solidFill>
                <a:latin typeface="Times New Roman" panose="02020603050405020304" pitchFamily="18" charset="0"/>
                <a:cs typeface="Times New Roman" panose="02020603050405020304" pitchFamily="18" charset="0"/>
              </a:rPr>
              <a:t>бізнесу</a:t>
            </a:r>
            <a:endParaRPr lang="uk-UA" sz="2400" b="1" i="1" dirty="0">
              <a:solidFill>
                <a:schemeClr val="tx1"/>
              </a:solidFill>
              <a:latin typeface="Times New Roman" panose="02020603050405020304" pitchFamily="18" charset="0"/>
              <a:cs typeface="Times New Roman" panose="02020603050405020304" pitchFamily="18" charset="0"/>
            </a:endParaRPr>
          </a:p>
        </p:txBody>
      </p:sp>
      <p:sp>
        <p:nvSpPr>
          <p:cNvPr id="5" name="Скругленный прямоугольник 4"/>
          <p:cNvSpPr/>
          <p:nvPr/>
        </p:nvSpPr>
        <p:spPr>
          <a:xfrm>
            <a:off x="5201728" y="1043795"/>
            <a:ext cx="5917721" cy="2682816"/>
          </a:xfrm>
          <a:prstGeom prst="roundRect">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Автоматизація діяльності закладів ресторанного господарства відбувається зазвичай за допомогою формування комп'ютерної системи управління (</a:t>
            </a:r>
            <a:r>
              <a:rPr lang="en-US" b="1" i="1" dirty="0">
                <a:solidFill>
                  <a:schemeClr val="tx1"/>
                </a:solidFill>
                <a:latin typeface="Times New Roman" panose="02020603050405020304" pitchFamily="18" charset="0"/>
                <a:cs typeface="Times New Roman" panose="02020603050405020304" pitchFamily="18" charset="0"/>
              </a:rPr>
              <a:t>Restaurant Management System), </a:t>
            </a:r>
            <a:r>
              <a:rPr lang="uk-UA" b="1" i="1" dirty="0">
                <a:solidFill>
                  <a:schemeClr val="tx1"/>
                </a:solidFill>
                <a:latin typeface="Times New Roman" panose="02020603050405020304" pitchFamily="18" charset="0"/>
                <a:cs typeface="Times New Roman" panose="02020603050405020304" pitchFamily="18" charset="0"/>
              </a:rPr>
              <a:t>яка обслуговує ресторанний цикл у двох зонах: обслуговування й управління. Взаємозв'язок цих двох зон, пристроїв та програмного забезпечення дає змогу сформувати єдину базу даних підприємства, яка акумулює всю оперативну інформацію щодо діяльності закладу</a:t>
            </a:r>
          </a:p>
        </p:txBody>
      </p:sp>
      <p:sp>
        <p:nvSpPr>
          <p:cNvPr id="6" name="Скругленный прямоугольник 5"/>
          <p:cNvSpPr/>
          <p:nvPr/>
        </p:nvSpPr>
        <p:spPr>
          <a:xfrm>
            <a:off x="690113" y="4002657"/>
            <a:ext cx="5141344" cy="2104845"/>
          </a:xfrm>
          <a:prstGeom prst="roundRect">
            <a:avLst/>
          </a:prstGeom>
          <a:solidFill>
            <a:schemeClr val="accent5">
              <a:lumMod val="40000"/>
              <a:lumOff val="6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a:solidFill>
                  <a:schemeClr val="tx1"/>
                </a:solidFill>
                <a:latin typeface="Times New Roman" panose="02020603050405020304" pitchFamily="18" charset="0"/>
                <a:cs typeface="Times New Roman" panose="02020603050405020304" pitchFamily="18" charset="0"/>
              </a:rPr>
              <a:t>Важливість та ефективність використання АСУ пояснюється, насамперед, можливістю формування єдиної бази даних, інформація в якій постійно систематизується та оновлюється, й на основі якої керівник може приймати економічно обґрунтовані управлінські рішення.</a:t>
            </a:r>
          </a:p>
        </p:txBody>
      </p:sp>
    </p:spTree>
    <p:extLst>
      <p:ext uri="{BB962C8B-B14F-4D97-AF65-F5344CB8AC3E}">
        <p14:creationId xmlns:p14="http://schemas.microsoft.com/office/powerpoint/2010/main" val="4075991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rotWithShape="1">
          <a:blip r:embed="rId2"/>
          <a:srcRect l="29504" t="31950" r="34270" b="20880"/>
          <a:stretch/>
        </p:blipFill>
        <p:spPr>
          <a:xfrm>
            <a:off x="0" y="0"/>
            <a:ext cx="7102093" cy="5201728"/>
          </a:xfrm>
          <a:prstGeom prst="rect">
            <a:avLst/>
          </a:prstGeom>
        </p:spPr>
      </p:pic>
      <p:sp>
        <p:nvSpPr>
          <p:cNvPr id="5" name="Скругленный прямоугольник 4"/>
          <p:cNvSpPr/>
          <p:nvPr/>
        </p:nvSpPr>
        <p:spPr>
          <a:xfrm>
            <a:off x="7289320" y="2717321"/>
            <a:ext cx="4632385" cy="295023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З </a:t>
            </a:r>
            <a:r>
              <a:rPr lang="uk-UA" b="1" i="1" dirty="0" smtClean="0">
                <a:solidFill>
                  <a:schemeClr val="tx1"/>
                </a:solidFill>
                <a:latin typeface="Times New Roman" panose="02020603050405020304" pitchFamily="18" charset="0"/>
                <a:cs typeface="Times New Roman" panose="02020603050405020304" pitchFamily="18" charset="0"/>
              </a:rPr>
              <a:t>рисунка </a:t>
            </a:r>
            <a:r>
              <a:rPr lang="uk-UA" b="1" i="1" dirty="0">
                <a:solidFill>
                  <a:schemeClr val="tx1"/>
                </a:solidFill>
                <a:latin typeface="Times New Roman" panose="02020603050405020304" pitchFamily="18" charset="0"/>
                <a:cs typeface="Times New Roman" panose="02020603050405020304" pitchFamily="18" charset="0"/>
              </a:rPr>
              <a:t>випливає, що основними структурними елементами єдиної бази даних є </a:t>
            </a:r>
            <a:r>
              <a:rPr lang="en-US" b="1" i="1" dirty="0">
                <a:solidFill>
                  <a:schemeClr val="tx1"/>
                </a:solidFill>
                <a:latin typeface="Times New Roman" panose="02020603050405020304" pitchFamily="18" charset="0"/>
                <a:cs typeface="Times New Roman" panose="02020603050405020304" pitchFamily="18" charset="0"/>
              </a:rPr>
              <a:t>POS-</a:t>
            </a:r>
            <a:r>
              <a:rPr lang="uk-UA" b="1" i="1" dirty="0">
                <a:solidFill>
                  <a:schemeClr val="tx1"/>
                </a:solidFill>
                <a:latin typeface="Times New Roman" panose="02020603050405020304" pitchFamily="18" charset="0"/>
                <a:cs typeface="Times New Roman" panose="02020603050405020304" pitchFamily="18" charset="0"/>
              </a:rPr>
              <a:t>термінали, призначені для автоматизації роботи операторів, касирів, барменів, офіціантів, що прискорює процес обслуговування клієнтів, і </a:t>
            </a:r>
            <a:r>
              <a:rPr lang="en-US" b="1" i="1" dirty="0">
                <a:solidFill>
                  <a:schemeClr val="tx1"/>
                </a:solidFill>
                <a:latin typeface="Times New Roman" panose="02020603050405020304" pitchFamily="18" charset="0"/>
                <a:cs typeface="Times New Roman" panose="02020603050405020304" pitchFamily="18" charset="0"/>
              </a:rPr>
              <a:t>POS-</a:t>
            </a:r>
            <a:r>
              <a:rPr lang="uk-UA" b="1" i="1" dirty="0">
                <a:solidFill>
                  <a:schemeClr val="tx1"/>
                </a:solidFill>
                <a:latin typeface="Times New Roman" panose="02020603050405020304" pitchFamily="18" charset="0"/>
                <a:cs typeface="Times New Roman" panose="02020603050405020304" pitchFamily="18" charset="0"/>
              </a:rPr>
              <a:t>принтери, які встановлюються на кухні для друку замовлень, робочому місці бармена, офіціанта для друку </a:t>
            </a:r>
            <a:r>
              <a:rPr lang="uk-UA" b="1" i="1" dirty="0" err="1">
                <a:solidFill>
                  <a:schemeClr val="tx1"/>
                </a:solidFill>
                <a:latin typeface="Times New Roman" panose="02020603050405020304" pitchFamily="18" charset="0"/>
                <a:cs typeface="Times New Roman" panose="02020603050405020304" pitchFamily="18" charset="0"/>
              </a:rPr>
              <a:t>чеків</a:t>
            </a:r>
            <a:r>
              <a:rPr lang="uk-UA" b="1" i="1" dirty="0">
                <a:solidFill>
                  <a:schemeClr val="tx1"/>
                </a:solidFill>
                <a:latin typeface="Times New Roman" panose="02020603050405020304" pitchFamily="18" charset="0"/>
                <a:cs typeface="Times New Roman" panose="02020603050405020304" pitchFamily="18" charset="0"/>
              </a:rPr>
              <a:t> і рахунків. </a:t>
            </a:r>
          </a:p>
        </p:txBody>
      </p:sp>
    </p:spTree>
    <p:extLst>
      <p:ext uri="{BB962C8B-B14F-4D97-AF65-F5344CB8AC3E}">
        <p14:creationId xmlns:p14="http://schemas.microsoft.com/office/powerpoint/2010/main" val="1379757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вал 4"/>
          <p:cNvSpPr/>
          <p:nvPr/>
        </p:nvSpPr>
        <p:spPr>
          <a:xfrm>
            <a:off x="1561382" y="181155"/>
            <a:ext cx="8997350" cy="1293962"/>
          </a:xfrm>
          <a:prstGeom prst="ellipse">
            <a:avLst/>
          </a:prstGeom>
          <a:solidFill>
            <a:schemeClr val="tx2">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800" b="1" dirty="0">
                <a:solidFill>
                  <a:srgbClr val="FF0000"/>
                </a:solidFill>
                <a:latin typeface="Times New Roman" panose="02020603050405020304" pitchFamily="18" charset="0"/>
                <a:cs typeface="Times New Roman" panose="02020603050405020304" pitchFamily="18" charset="0"/>
              </a:rPr>
              <a:t>РОЗДІЛ 2. ПОБУДОВА БАЗИ ДАНИХ</a:t>
            </a:r>
            <a:endParaRPr lang="uk-UA" sz="2800" b="1" dirty="0">
              <a:solidFill>
                <a:srgbClr val="FF0000"/>
              </a:solidFill>
              <a:latin typeface="Times New Roman" panose="02020603050405020304" pitchFamily="18" charset="0"/>
              <a:cs typeface="Times New Roman" panose="02020603050405020304" pitchFamily="18" charset="0"/>
            </a:endParaRPr>
          </a:p>
        </p:txBody>
      </p:sp>
      <p:sp>
        <p:nvSpPr>
          <p:cNvPr id="6" name="Овал 5"/>
          <p:cNvSpPr/>
          <p:nvPr/>
        </p:nvSpPr>
        <p:spPr>
          <a:xfrm>
            <a:off x="258793" y="1716657"/>
            <a:ext cx="3657600" cy="1112807"/>
          </a:xfrm>
          <a:prstGeom prst="ellipse">
            <a:avLst/>
          </a:prstGeom>
          <a:solidFill>
            <a:schemeClr val="accent3">
              <a:lumMod val="60000"/>
              <a:lumOff val="4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400" b="1" i="1" dirty="0">
                <a:solidFill>
                  <a:schemeClr val="tx1"/>
                </a:solidFill>
                <a:latin typeface="Times New Roman" panose="02020603050405020304" pitchFamily="18" charset="0"/>
                <a:cs typeface="Times New Roman" panose="02020603050405020304" pitchFamily="18" charset="0"/>
              </a:rPr>
              <a:t>2.1 Опис предметної області</a:t>
            </a:r>
          </a:p>
        </p:txBody>
      </p:sp>
      <p:sp>
        <p:nvSpPr>
          <p:cNvPr id="7" name="Скругленный прямоугольник 6"/>
          <p:cNvSpPr/>
          <p:nvPr/>
        </p:nvSpPr>
        <p:spPr>
          <a:xfrm>
            <a:off x="4848045" y="1604512"/>
            <a:ext cx="4442604" cy="1664898"/>
          </a:xfrm>
          <a:prstGeom prst="roundRect">
            <a:avLst/>
          </a:prstGeom>
          <a:solidFill>
            <a:schemeClr val="accent2">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b="1" i="1" dirty="0">
                <a:solidFill>
                  <a:schemeClr val="tx1"/>
                </a:solidFill>
                <a:latin typeface="Times New Roman" panose="02020603050405020304" pitchFamily="18" charset="0"/>
                <a:cs typeface="Times New Roman" panose="02020603050405020304" pitchFamily="18" charset="0"/>
              </a:rPr>
              <a:t>Предметна область – </a:t>
            </a:r>
            <a:r>
              <a:rPr lang="ru-RU" b="1" i="1" dirty="0" err="1">
                <a:solidFill>
                  <a:schemeClr val="tx1"/>
                </a:solidFill>
                <a:latin typeface="Times New Roman" panose="02020603050405020304" pitchFamily="18" charset="0"/>
                <a:cs typeface="Times New Roman" panose="02020603050405020304" pitchFamily="18" charset="0"/>
              </a:rPr>
              <a:t>це</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частина</a:t>
            </a:r>
            <a:r>
              <a:rPr lang="ru-RU" b="1" i="1" dirty="0">
                <a:solidFill>
                  <a:schemeClr val="tx1"/>
                </a:solidFill>
                <a:latin typeface="Times New Roman" panose="02020603050405020304" pitchFamily="18" charset="0"/>
                <a:cs typeface="Times New Roman" panose="02020603050405020304" pitchFamily="18" charset="0"/>
              </a:rPr>
              <a:t> реального </a:t>
            </a:r>
            <a:r>
              <a:rPr lang="ru-RU" b="1" i="1" dirty="0" err="1">
                <a:solidFill>
                  <a:schemeClr val="tx1"/>
                </a:solidFill>
                <a:latin typeface="Times New Roman" panose="02020603050405020304" pitchFamily="18" charset="0"/>
                <a:cs typeface="Times New Roman" panose="02020603050405020304" pitchFamily="18" charset="0"/>
              </a:rPr>
              <a:t>світу</a:t>
            </a:r>
            <a:r>
              <a:rPr lang="ru-RU" b="1" i="1" dirty="0">
                <a:solidFill>
                  <a:schemeClr val="tx1"/>
                </a:solidFill>
                <a:latin typeface="Times New Roman" panose="02020603050405020304" pitchFamily="18" charset="0"/>
                <a:cs typeface="Times New Roman" panose="02020603050405020304" pitchFamily="18" charset="0"/>
              </a:rPr>
              <a:t>, яка </a:t>
            </a:r>
            <a:r>
              <a:rPr lang="ru-RU" b="1" i="1" dirty="0" err="1">
                <a:solidFill>
                  <a:schemeClr val="tx1"/>
                </a:solidFill>
                <a:latin typeface="Times New Roman" panose="02020603050405020304" pitchFamily="18" charset="0"/>
                <a:cs typeface="Times New Roman" panose="02020603050405020304" pitchFamily="18" charset="0"/>
              </a:rPr>
              <a:t>вивчається</a:t>
            </a:r>
            <a:r>
              <a:rPr lang="ru-RU" b="1" i="1" dirty="0">
                <a:solidFill>
                  <a:schemeClr val="tx1"/>
                </a:solidFill>
                <a:latin typeface="Times New Roman" panose="02020603050405020304" pitchFamily="18" charset="0"/>
                <a:cs typeface="Times New Roman" panose="02020603050405020304" pitchFamily="18" charset="0"/>
              </a:rPr>
              <a:t> з метою </a:t>
            </a:r>
            <a:r>
              <a:rPr lang="ru-RU" b="1" i="1" dirty="0" err="1">
                <a:solidFill>
                  <a:schemeClr val="tx1"/>
                </a:solidFill>
                <a:latin typeface="Times New Roman" panose="02020603050405020304" pitchFamily="18" charset="0"/>
                <a:cs typeface="Times New Roman" panose="02020603050405020304" pitchFamily="18" charset="0"/>
              </a:rPr>
              <a:t>створення</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бази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даних</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Набори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принципів</a:t>
            </a:r>
            <a:r>
              <a:rPr lang="ru-RU" b="1" i="1" dirty="0">
                <a:solidFill>
                  <a:schemeClr val="tx1"/>
                </a:solidFill>
                <a:latin typeface="Times New Roman" panose="02020603050405020304" pitchFamily="18" charset="0"/>
                <a:cs typeface="Times New Roman" panose="02020603050405020304" pitchFamily="18" charset="0"/>
              </a:rPr>
              <a:t>, за </a:t>
            </a:r>
            <a:r>
              <a:rPr lang="ru-RU" b="1" i="1" dirty="0" err="1">
                <a:solidFill>
                  <a:schemeClr val="tx1"/>
                </a:solidFill>
                <a:latin typeface="Times New Roman" panose="02020603050405020304" pitchFamily="18" charset="0"/>
                <a:cs typeface="Times New Roman" panose="02020603050405020304" pitchFamily="18" charset="0"/>
              </a:rPr>
              <a:t>якими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організована</a:t>
            </a:r>
            <a:r>
              <a:rPr lang="ru-RU" b="1" i="1" dirty="0">
                <a:solidFill>
                  <a:schemeClr val="tx1"/>
                </a:solidFill>
                <a:latin typeface="Times New Roman" panose="02020603050405020304" pitchFamily="18" charset="0"/>
                <a:cs typeface="Times New Roman" panose="02020603050405020304" pitchFamily="18" charset="0"/>
              </a:rPr>
              <a:t> структура </a:t>
            </a:r>
            <a:r>
              <a:rPr lang="ru-RU" b="1" i="1" dirty="0" err="1">
                <a:solidFill>
                  <a:schemeClr val="tx1"/>
                </a:solidFill>
                <a:latin typeface="Times New Roman" panose="02020603050405020304" pitchFamily="18" charset="0"/>
                <a:cs typeface="Times New Roman" panose="02020603050405020304" pitchFamily="18" charset="0"/>
              </a:rPr>
              <a:t>зберігання</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даних</a:t>
            </a:r>
            <a:r>
              <a:rPr lang="ru-RU" b="1" i="1" dirty="0">
                <a:solidFill>
                  <a:schemeClr val="tx1"/>
                </a:solidFill>
                <a:latin typeface="Times New Roman" panose="02020603050405020304" pitchFamily="18" charset="0"/>
                <a:cs typeface="Times New Roman" panose="02020603050405020304" pitchFamily="18" charset="0"/>
              </a:rPr>
              <a:t> в </a:t>
            </a:r>
            <a:r>
              <a:rPr lang="ru-RU" b="1" i="1" dirty="0" err="1">
                <a:solidFill>
                  <a:schemeClr val="tx1"/>
                </a:solidFill>
                <a:latin typeface="Times New Roman" panose="02020603050405020304" pitchFamily="18" charset="0"/>
                <a:cs typeface="Times New Roman" panose="02020603050405020304" pitchFamily="18" charset="0"/>
              </a:rPr>
              <a:t>базі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називаються</a:t>
            </a:r>
            <a:r>
              <a:rPr lang="ru-RU" b="1" i="1" dirty="0">
                <a:solidFill>
                  <a:schemeClr val="tx1"/>
                </a:solidFill>
                <a:latin typeface="Times New Roman" panose="02020603050405020304" pitchFamily="18" charset="0"/>
                <a:cs typeface="Times New Roman" panose="02020603050405020304" pitchFamily="18" charset="0"/>
              </a:rPr>
              <a:t> моделями </a:t>
            </a:r>
            <a:r>
              <a:rPr lang="ru-RU" b="1" i="1" dirty="0" err="1">
                <a:solidFill>
                  <a:schemeClr val="tx1"/>
                </a:solidFill>
                <a:latin typeface="Times New Roman" panose="02020603050405020304" pitchFamily="18" charset="0"/>
                <a:cs typeface="Times New Roman" panose="02020603050405020304" pitchFamily="18" charset="0"/>
              </a:rPr>
              <a:t>даних</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8" name="Скругленный прямоугольник 7"/>
          <p:cNvSpPr/>
          <p:nvPr/>
        </p:nvSpPr>
        <p:spPr>
          <a:xfrm>
            <a:off x="86264" y="3071004"/>
            <a:ext cx="3959526" cy="1923689"/>
          </a:xfrm>
          <a:prstGeom prst="roundRect">
            <a:avLst/>
          </a:prstGeom>
          <a:solidFill>
            <a:schemeClr val="accent4">
              <a:lumMod val="40000"/>
              <a:lumOff val="6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ru-RU" b="1" i="1" dirty="0">
                <a:solidFill>
                  <a:schemeClr val="tx1"/>
                </a:solidFill>
                <a:latin typeface="Times New Roman" panose="02020603050405020304" pitchFamily="18" charset="0"/>
                <a:cs typeface="Times New Roman" panose="02020603050405020304" pitchFamily="18" charset="0"/>
              </a:rPr>
              <a:t>Перед </a:t>
            </a:r>
            <a:r>
              <a:rPr lang="ru-RU" b="1" i="1" dirty="0" err="1">
                <a:solidFill>
                  <a:schemeClr val="tx1"/>
                </a:solidFill>
                <a:latin typeface="Times New Roman" panose="02020603050405020304" pitchFamily="18" charset="0"/>
                <a:cs typeface="Times New Roman" panose="02020603050405020304" pitchFamily="18" charset="0"/>
              </a:rPr>
              <a:t>тим</a:t>
            </a:r>
            <a:r>
              <a:rPr lang="ru-RU" b="1" i="1" dirty="0">
                <a:solidFill>
                  <a:schemeClr val="tx1"/>
                </a:solidFill>
                <a:latin typeface="Times New Roman" panose="02020603050405020304" pitchFamily="18" charset="0"/>
                <a:cs typeface="Times New Roman" panose="02020603050405020304" pitchFamily="18" charset="0"/>
              </a:rPr>
              <a:t> як </a:t>
            </a:r>
            <a:r>
              <a:rPr lang="ru-RU" b="1" i="1" dirty="0" err="1">
                <a:solidFill>
                  <a:schemeClr val="tx1"/>
                </a:solidFill>
                <a:latin typeface="Times New Roman" panose="02020603050405020304" pitchFamily="18" charset="0"/>
                <a:cs typeface="Times New Roman" panose="02020603050405020304" pitchFamily="18" charset="0"/>
              </a:rPr>
              <a:t>створювати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таблиці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форми</a:t>
            </a:r>
            <a:r>
              <a:rPr lang="ru-RU" b="1" i="1" dirty="0">
                <a:solidFill>
                  <a:schemeClr val="tx1"/>
                </a:solidFill>
                <a:latin typeface="Times New Roman" panose="02020603050405020304" pitchFamily="18" charset="0"/>
                <a:cs typeface="Times New Roman" panose="02020603050405020304" pitchFamily="18" charset="0"/>
              </a:rPr>
              <a:t> та </a:t>
            </a:r>
            <a:r>
              <a:rPr lang="ru-RU" b="1" i="1" dirty="0" err="1">
                <a:solidFill>
                  <a:schemeClr val="tx1"/>
                </a:solidFill>
                <a:latin typeface="Times New Roman" panose="02020603050405020304" pitchFamily="18" charset="0"/>
                <a:cs typeface="Times New Roman" panose="02020603050405020304" pitchFamily="18" charset="0"/>
              </a:rPr>
              <a:t>інші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об’єкти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потрібно</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задати</a:t>
            </a:r>
            <a:r>
              <a:rPr lang="ru-RU" b="1" i="1" dirty="0">
                <a:solidFill>
                  <a:schemeClr val="tx1"/>
                </a:solidFill>
                <a:latin typeface="Times New Roman" panose="02020603050405020304" pitchFamily="18" charset="0"/>
                <a:cs typeface="Times New Roman" panose="02020603050405020304" pitchFamily="18" charset="0"/>
              </a:rPr>
              <a:t> структуру </a:t>
            </a:r>
            <a:r>
              <a:rPr lang="ru-RU" b="1" i="1" dirty="0" err="1">
                <a:solidFill>
                  <a:schemeClr val="tx1"/>
                </a:solidFill>
                <a:latin typeface="Times New Roman" panose="02020603050405020304" pitchFamily="18" charset="0"/>
                <a:cs typeface="Times New Roman" panose="02020603050405020304" pitchFamily="18" charset="0"/>
              </a:rPr>
              <a:t>бази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даних</a:t>
            </a:r>
            <a:r>
              <a:rPr lang="ru-RU" b="1" i="1" dirty="0">
                <a:solidFill>
                  <a:schemeClr val="tx1"/>
                </a:solidFill>
                <a:latin typeface="Times New Roman" panose="02020603050405020304" pitchFamily="18" charset="0"/>
                <a:cs typeface="Times New Roman" panose="02020603050405020304" pitchFamily="18" charset="0"/>
              </a:rPr>
              <a:t>. Добра структура </a:t>
            </a:r>
            <a:r>
              <a:rPr lang="ru-RU" b="1" i="1" dirty="0" err="1">
                <a:solidFill>
                  <a:schemeClr val="tx1"/>
                </a:solidFill>
                <a:latin typeface="Times New Roman" panose="02020603050405020304" pitchFamily="18" charset="0"/>
                <a:cs typeface="Times New Roman" panose="02020603050405020304" pitchFamily="18" charset="0"/>
              </a:rPr>
              <a:t>бази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даних</a:t>
            </a:r>
            <a:r>
              <a:rPr lang="ru-RU" b="1" i="1" dirty="0">
                <a:solidFill>
                  <a:schemeClr val="tx1"/>
                </a:solidFill>
                <a:latin typeface="Times New Roman" panose="02020603050405020304" pitchFamily="18" charset="0"/>
                <a:cs typeface="Times New Roman" panose="02020603050405020304" pitchFamily="18" charset="0"/>
              </a:rPr>
              <a:t> є основою для </a:t>
            </a:r>
            <a:r>
              <a:rPr lang="ru-RU" b="1" i="1" dirty="0" err="1">
                <a:solidFill>
                  <a:schemeClr val="tx1"/>
                </a:solidFill>
                <a:latin typeface="Times New Roman" panose="02020603050405020304" pitchFamily="18" charset="0"/>
                <a:cs typeface="Times New Roman" panose="02020603050405020304" pitchFamily="18" charset="0"/>
              </a:rPr>
              <a:t>створення</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адекватної</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вимогам</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ефективної</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бази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даних</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9" name="Скругленный прямоугольник 8"/>
          <p:cNvSpPr/>
          <p:nvPr/>
        </p:nvSpPr>
        <p:spPr>
          <a:xfrm>
            <a:off x="4149306" y="3398805"/>
            <a:ext cx="7944928" cy="3459195"/>
          </a:xfrm>
          <a:prstGeom prst="roundRect">
            <a:avLst/>
          </a:prstGeom>
          <a:solidFill>
            <a:schemeClr val="accent6">
              <a:lumMod val="40000"/>
              <a:lumOff val="6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Об’єкти БД: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Таблиці </a:t>
            </a:r>
            <a:r>
              <a:rPr lang="uk-UA" b="1" i="1" dirty="0">
                <a:solidFill>
                  <a:schemeClr val="tx1"/>
                </a:solidFill>
                <a:latin typeface="Times New Roman" panose="02020603050405020304" pitchFamily="18" charset="0"/>
                <a:cs typeface="Times New Roman" panose="02020603050405020304" pitchFamily="18" charset="0"/>
              </a:rPr>
              <a:t>– основні об’єкти БД, в них зберігається структура БД (поля, їх типи і властивості).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Запити </a:t>
            </a:r>
            <a:r>
              <a:rPr lang="uk-UA" b="1" i="1" dirty="0">
                <a:solidFill>
                  <a:schemeClr val="tx1"/>
                </a:solidFill>
                <a:latin typeface="Times New Roman" panose="02020603050405020304" pitchFamily="18" charset="0"/>
                <a:cs typeface="Times New Roman" panose="02020603050405020304" pitchFamily="18" charset="0"/>
              </a:rPr>
              <a:t>– служать для отримання даних із таблиць і представлення їх користувачеві в зручному вигляді. З допомогою запитів виконують такі операції як відбір даних, сортування, фільтрацію. </a:t>
            </a:r>
            <a:endParaRPr lang="uk-UA"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Форми </a:t>
            </a:r>
            <a:r>
              <a:rPr lang="uk-UA" b="1" i="1" dirty="0">
                <a:solidFill>
                  <a:schemeClr val="tx1"/>
                </a:solidFill>
                <a:latin typeface="Times New Roman" panose="02020603050405020304" pitchFamily="18" charset="0"/>
                <a:cs typeface="Times New Roman" panose="02020603050405020304" pitchFamily="18" charset="0"/>
              </a:rPr>
              <a:t>– це засоби для вводу даних. Переваги форм розкриваються наглядно тоді, коли відбувається введення даних і заповнення бланків.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Звіти </a:t>
            </a:r>
            <a:r>
              <a:rPr lang="uk-UA" b="1" i="1" dirty="0">
                <a:solidFill>
                  <a:schemeClr val="tx1"/>
                </a:solidFill>
                <a:latin typeface="Times New Roman" panose="02020603050405020304" pitchFamily="18" charset="0"/>
                <a:cs typeface="Times New Roman" panose="02020603050405020304" pitchFamily="18" charset="0"/>
              </a:rPr>
              <a:t>– призначені для виводу даних на друкуючий пристрій. </a:t>
            </a:r>
            <a:r>
              <a:rPr lang="uk-UA" b="1" i="1" dirty="0">
                <a:solidFill>
                  <a:schemeClr val="tx1"/>
                </a:solidFill>
                <a:latin typeface="Times New Roman" panose="02020603050405020304" pitchFamily="18" charset="0"/>
                <a:cs typeface="Times New Roman" panose="02020603050405020304" pitchFamily="18" charset="0"/>
              </a:rPr>
              <a:t>Передбачає спеціальні елементи оформлення, характерні для друкуючих документів</a:t>
            </a:r>
          </a:p>
        </p:txBody>
      </p:sp>
    </p:spTree>
    <p:extLst>
      <p:ext uri="{BB962C8B-B14F-4D97-AF65-F5344CB8AC3E}">
        <p14:creationId xmlns:p14="http://schemas.microsoft.com/office/powerpoint/2010/main" val="2824062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301924" y="181155"/>
            <a:ext cx="3554083" cy="1242203"/>
          </a:xfrm>
          <a:prstGeom prst="ellipse">
            <a:avLst/>
          </a:prstGeom>
          <a:solidFill>
            <a:schemeClr val="accent1">
              <a:lumMod val="20000"/>
              <a:lumOff val="8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400" b="1" i="1" dirty="0">
                <a:solidFill>
                  <a:schemeClr val="tx1"/>
                </a:solidFill>
                <a:latin typeface="Times New Roman" panose="02020603050405020304" pitchFamily="18" charset="0"/>
                <a:cs typeface="Times New Roman" panose="02020603050405020304" pitchFamily="18" charset="0"/>
              </a:rPr>
              <a:t>2.2 Архітектура СКБД</a:t>
            </a:r>
          </a:p>
        </p:txBody>
      </p:sp>
      <p:sp>
        <p:nvSpPr>
          <p:cNvPr id="5" name="Скругленный прямоугольник 4"/>
          <p:cNvSpPr/>
          <p:nvPr/>
        </p:nvSpPr>
        <p:spPr>
          <a:xfrm>
            <a:off x="3994030" y="690114"/>
            <a:ext cx="5443268" cy="1820173"/>
          </a:xfrm>
          <a:prstGeom prst="round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Архітектура СКБД являє собою виділення однієї з машин мережі як головної (сервер). На цьому сервері зберігається спільна централізована БД. Інші машини мережі виконують функції робочих станцій, за допомогою яких підтримується доступ користувачів до бази даних.</a:t>
            </a:r>
          </a:p>
        </p:txBody>
      </p:sp>
      <p:sp>
        <p:nvSpPr>
          <p:cNvPr id="6" name="Скругленный прямоугольник 5"/>
          <p:cNvSpPr/>
          <p:nvPr/>
        </p:nvSpPr>
        <p:spPr>
          <a:xfrm>
            <a:off x="0" y="2605179"/>
            <a:ext cx="6547451" cy="3536829"/>
          </a:xfrm>
          <a:prstGeom prst="roundRect">
            <a:avLst/>
          </a:prstGeom>
          <a:solidFill>
            <a:schemeClr val="accent4">
              <a:lumMod val="40000"/>
              <a:lumOff val="6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Під час побудови </a:t>
            </a:r>
            <a:r>
              <a:rPr lang="uk-UA" b="1" i="1" dirty="0" err="1">
                <a:solidFill>
                  <a:schemeClr val="tx1"/>
                </a:solidFill>
                <a:latin typeface="Times New Roman" panose="02020603050405020304" pitchFamily="18" charset="0"/>
                <a:cs typeface="Times New Roman" panose="02020603050405020304" pitchFamily="18" charset="0"/>
              </a:rPr>
              <a:t>інфологічних</a:t>
            </a:r>
            <a:r>
              <a:rPr lang="uk-UA" b="1" i="1" dirty="0">
                <a:solidFill>
                  <a:schemeClr val="tx1"/>
                </a:solidFill>
                <a:latin typeface="Times New Roman" panose="02020603050405020304" pitchFamily="18" charset="0"/>
                <a:cs typeface="Times New Roman" panose="02020603050405020304" pitchFamily="18" charset="0"/>
              </a:rPr>
              <a:t> моделей, як правило, використовують мову </a:t>
            </a:r>
            <a:r>
              <a:rPr lang="en-US" b="1" i="1" dirty="0">
                <a:solidFill>
                  <a:schemeClr val="tx1"/>
                </a:solidFill>
                <a:latin typeface="Times New Roman" panose="02020603050405020304" pitchFamily="18" charset="0"/>
                <a:cs typeface="Times New Roman" panose="02020603050405020304" pitchFamily="18" charset="0"/>
              </a:rPr>
              <a:t>ER-</a:t>
            </a:r>
            <a:r>
              <a:rPr lang="uk-UA" b="1" i="1" dirty="0">
                <a:solidFill>
                  <a:schemeClr val="tx1"/>
                </a:solidFill>
                <a:latin typeface="Times New Roman" panose="02020603050405020304" pitchFamily="18" charset="0"/>
                <a:cs typeface="Times New Roman" panose="02020603050405020304" pitchFamily="18" charset="0"/>
              </a:rPr>
              <a:t>діаграм (від </a:t>
            </a:r>
            <a:r>
              <a:rPr lang="uk-UA" b="1" i="1" dirty="0" err="1">
                <a:solidFill>
                  <a:schemeClr val="tx1"/>
                </a:solidFill>
                <a:latin typeface="Times New Roman" panose="02020603050405020304" pitchFamily="18" charset="0"/>
                <a:cs typeface="Times New Roman" panose="02020603050405020304" pitchFamily="18" charset="0"/>
              </a:rPr>
              <a:t>англ</a:t>
            </a:r>
            <a:r>
              <a:rPr lang="uk-UA" b="1" i="1" dirty="0">
                <a:solidFill>
                  <a:schemeClr val="tx1"/>
                </a:solidFill>
                <a:latin typeface="Times New Roman" panose="02020603050405020304" pitchFamily="18" charset="0"/>
                <a:cs typeface="Times New Roman" panose="02020603050405020304" pitchFamily="18" charset="0"/>
              </a:rPr>
              <a:t>. </a:t>
            </a:r>
            <a:r>
              <a:rPr lang="en-US" b="1" i="1" dirty="0">
                <a:solidFill>
                  <a:schemeClr val="tx1"/>
                </a:solidFill>
                <a:latin typeface="Times New Roman" panose="02020603050405020304" pitchFamily="18" charset="0"/>
                <a:cs typeface="Times New Roman" panose="02020603050405020304" pitchFamily="18" charset="0"/>
              </a:rPr>
              <a:t>Entity-Relationship - </a:t>
            </a:r>
            <a:r>
              <a:rPr lang="uk-UA" b="1" i="1" dirty="0">
                <a:solidFill>
                  <a:schemeClr val="tx1"/>
                </a:solidFill>
                <a:latin typeface="Times New Roman" panose="02020603050405020304" pitchFamily="18" charset="0"/>
                <a:cs typeface="Times New Roman" panose="02020603050405020304" pitchFamily="18" charset="0"/>
              </a:rPr>
              <a:t>сутність-зв'язок). </a:t>
            </a:r>
            <a:r>
              <a:rPr lang="uk-UA" b="1" i="1" dirty="0">
                <a:solidFill>
                  <a:schemeClr val="tx1"/>
                </a:solidFill>
                <a:latin typeface="Times New Roman" panose="02020603050405020304" pitchFamily="18" charset="0"/>
                <a:cs typeface="Times New Roman" panose="02020603050405020304" pitchFamily="18" charset="0"/>
              </a:rPr>
              <a:t>Можливі чотири типи </a:t>
            </a:r>
            <a:r>
              <a:rPr lang="uk-UA" b="1" i="1" dirty="0" err="1" smtClean="0">
                <a:solidFill>
                  <a:schemeClr val="tx1"/>
                </a:solidFill>
                <a:latin typeface="Times New Roman" panose="02020603050405020304" pitchFamily="18" charset="0"/>
                <a:cs typeface="Times New Roman" panose="02020603050405020304" pitchFamily="18" charset="0"/>
              </a:rPr>
              <a:t>зв'язків</a:t>
            </a:r>
            <a:r>
              <a:rPr lang="uk-UA" b="1" i="1" dirty="0" smtClean="0">
                <a:solidFill>
                  <a:schemeClr val="tx1"/>
                </a:solidFill>
                <a:latin typeface="Times New Roman" panose="02020603050405020304" pitchFamily="18" charset="0"/>
                <a:cs typeface="Times New Roman" panose="02020603050405020304" pitchFamily="18" charset="0"/>
              </a:rPr>
              <a:t>:</a:t>
            </a:r>
          </a:p>
          <a:p>
            <a:pPr algn="just"/>
            <a:r>
              <a:rPr lang="ru-RU" b="1" i="1" dirty="0">
                <a:solidFill>
                  <a:schemeClr val="tx1"/>
                </a:solidFill>
                <a:latin typeface="Times New Roman" panose="02020603050405020304" pitchFamily="18" charset="0"/>
                <a:cs typeface="Times New Roman" panose="02020603050405020304" pitchFamily="18" charset="0"/>
              </a:rPr>
              <a:t>Перший тип - </a:t>
            </a:r>
            <a:r>
              <a:rPr lang="ru-RU" b="1" i="1" dirty="0" err="1">
                <a:solidFill>
                  <a:schemeClr val="tx1"/>
                </a:solidFill>
                <a:latin typeface="Times New Roman" panose="02020603050405020304" pitchFamily="18" charset="0"/>
                <a:cs typeface="Times New Roman" panose="02020603050405020304" pitchFamily="18" charset="0"/>
              </a:rPr>
              <a:t>зв'язок</a:t>
            </a:r>
            <a:r>
              <a:rPr lang="ru-RU" b="1" i="1" dirty="0">
                <a:solidFill>
                  <a:schemeClr val="tx1"/>
                </a:solidFill>
                <a:latin typeface="Times New Roman" panose="02020603050405020304" pitchFamily="18" charset="0"/>
                <a:cs typeface="Times New Roman" panose="02020603050405020304" pitchFamily="18" charset="0"/>
              </a:rPr>
              <a:t> "один-до-одного" (1:1): у </a:t>
            </a:r>
            <a:r>
              <a:rPr lang="ru-RU" b="1" i="1" dirty="0" err="1">
                <a:solidFill>
                  <a:schemeClr val="tx1"/>
                </a:solidFill>
                <a:latin typeface="Times New Roman" panose="02020603050405020304" pitchFamily="18" charset="0"/>
                <a:cs typeface="Times New Roman" panose="02020603050405020304" pitchFamily="18" charset="0"/>
              </a:rPr>
              <a:t>кожний</a:t>
            </a:r>
            <a:r>
              <a:rPr lang="ru-RU" b="1" i="1" dirty="0">
                <a:solidFill>
                  <a:schemeClr val="tx1"/>
                </a:solidFill>
                <a:latin typeface="Times New Roman" panose="02020603050405020304" pitchFamily="18" charset="0"/>
                <a:cs typeface="Times New Roman" panose="02020603050405020304" pitchFamily="18" charset="0"/>
              </a:rPr>
              <a:t> момент часу кожному </a:t>
            </a:r>
            <a:r>
              <a:rPr lang="ru-RU" b="1" i="1" dirty="0" err="1">
                <a:solidFill>
                  <a:schemeClr val="tx1"/>
                </a:solidFill>
                <a:latin typeface="Times New Roman" panose="02020603050405020304" pitchFamily="18" charset="0"/>
                <a:cs typeface="Times New Roman" panose="02020603050405020304" pitchFamily="18" charset="0"/>
              </a:rPr>
              <a:t>представникові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сутності</a:t>
            </a:r>
            <a:r>
              <a:rPr lang="ru-RU" b="1" i="1" dirty="0">
                <a:solidFill>
                  <a:schemeClr val="tx1"/>
                </a:solidFill>
                <a:latin typeface="Times New Roman" panose="02020603050405020304" pitchFamily="18" charset="0"/>
                <a:cs typeface="Times New Roman" panose="02020603050405020304" pitchFamily="18" charset="0"/>
              </a:rPr>
              <a:t> А </a:t>
            </a:r>
            <a:r>
              <a:rPr lang="ru-RU" b="1" i="1" dirty="0" err="1">
                <a:solidFill>
                  <a:schemeClr val="tx1"/>
                </a:solidFill>
                <a:latin typeface="Times New Roman" panose="02020603050405020304" pitchFamily="18" charset="0"/>
                <a:cs typeface="Times New Roman" panose="02020603050405020304" pitchFamily="18" charset="0"/>
              </a:rPr>
              <a:t>відповідає</a:t>
            </a:r>
            <a:r>
              <a:rPr lang="ru-RU" b="1" i="1" dirty="0">
                <a:solidFill>
                  <a:schemeClr val="tx1"/>
                </a:solidFill>
                <a:latin typeface="Times New Roman" panose="02020603050405020304" pitchFamily="18" charset="0"/>
                <a:cs typeface="Times New Roman" panose="02020603050405020304" pitchFamily="18" charset="0"/>
              </a:rPr>
              <a:t> 1 </a:t>
            </a:r>
            <a:r>
              <a:rPr lang="ru-RU" b="1" i="1" dirty="0" err="1">
                <a:solidFill>
                  <a:schemeClr val="tx1"/>
                </a:solidFill>
                <a:latin typeface="Times New Roman" panose="02020603050405020304" pitchFamily="18" charset="0"/>
                <a:cs typeface="Times New Roman" panose="02020603050405020304" pitchFamily="18" charset="0"/>
              </a:rPr>
              <a:t>або</a:t>
            </a:r>
            <a:r>
              <a:rPr lang="ru-RU" b="1" i="1" dirty="0">
                <a:solidFill>
                  <a:schemeClr val="tx1"/>
                </a:solidFill>
                <a:latin typeface="Times New Roman" panose="02020603050405020304" pitchFamily="18" charset="0"/>
                <a:cs typeface="Times New Roman" panose="02020603050405020304" pitchFamily="18" charset="0"/>
              </a:rPr>
              <a:t> 0 </a:t>
            </a:r>
            <a:r>
              <a:rPr lang="ru-RU" b="1" i="1" dirty="0" err="1">
                <a:solidFill>
                  <a:schemeClr val="tx1"/>
                </a:solidFill>
                <a:latin typeface="Times New Roman" panose="02020603050405020304" pitchFamily="18" charset="0"/>
                <a:cs typeface="Times New Roman" panose="02020603050405020304" pitchFamily="18" charset="0"/>
              </a:rPr>
              <a:t>представників</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сутності</a:t>
            </a:r>
            <a:r>
              <a:rPr lang="ru-RU" b="1" i="1" dirty="0">
                <a:solidFill>
                  <a:schemeClr val="tx1"/>
                </a:solidFill>
                <a:latin typeface="Times New Roman" panose="02020603050405020304" pitchFamily="18" charset="0"/>
                <a:cs typeface="Times New Roman" panose="02020603050405020304" pitchFamily="18" charset="0"/>
              </a:rPr>
              <a:t> В. </a:t>
            </a:r>
            <a:r>
              <a:rPr lang="ru-RU" b="1" i="1" dirty="0" err="1">
                <a:solidFill>
                  <a:schemeClr val="tx1"/>
                </a:solidFill>
                <a:latin typeface="Times New Roman" panose="02020603050405020304" pitchFamily="18" charset="0"/>
                <a:cs typeface="Times New Roman" panose="02020603050405020304" pitchFamily="18" charset="0"/>
              </a:rPr>
              <a:t>Другий</a:t>
            </a:r>
            <a:r>
              <a:rPr lang="ru-RU" b="1" i="1" dirty="0">
                <a:solidFill>
                  <a:schemeClr val="tx1"/>
                </a:solidFill>
                <a:latin typeface="Times New Roman" panose="02020603050405020304" pitchFamily="18" charset="0"/>
                <a:cs typeface="Times New Roman" panose="02020603050405020304" pitchFamily="18" charset="0"/>
              </a:rPr>
              <a:t> тип - </a:t>
            </a:r>
            <a:r>
              <a:rPr lang="ru-RU" b="1" i="1" dirty="0" err="1">
                <a:solidFill>
                  <a:schemeClr val="tx1"/>
                </a:solidFill>
                <a:latin typeface="Times New Roman" panose="02020603050405020304" pitchFamily="18" charset="0"/>
                <a:cs typeface="Times New Roman" panose="02020603050405020304" pitchFamily="18" charset="0"/>
              </a:rPr>
              <a:t>зв'язок</a:t>
            </a:r>
            <a:r>
              <a:rPr lang="ru-RU" b="1" i="1" dirty="0">
                <a:solidFill>
                  <a:schemeClr val="tx1"/>
                </a:solidFill>
                <a:latin typeface="Times New Roman" panose="02020603050405020304" pitchFamily="18" charset="0"/>
                <a:cs typeface="Times New Roman" panose="02020603050405020304" pitchFamily="18" charset="0"/>
              </a:rPr>
              <a:t> "один-до-</a:t>
            </a:r>
            <a:r>
              <a:rPr lang="ru-RU" b="1" i="1" dirty="0" err="1">
                <a:solidFill>
                  <a:schemeClr val="tx1"/>
                </a:solidFill>
                <a:latin typeface="Times New Roman" panose="02020603050405020304" pitchFamily="18" charset="0"/>
                <a:cs typeface="Times New Roman" panose="02020603050405020304" pitchFamily="18" charset="0"/>
              </a:rPr>
              <a:t>багатьох</a:t>
            </a:r>
            <a:r>
              <a:rPr lang="ru-RU" b="1" i="1" dirty="0">
                <a:solidFill>
                  <a:schemeClr val="tx1"/>
                </a:solidFill>
                <a:latin typeface="Times New Roman" panose="02020603050405020304" pitchFamily="18" charset="0"/>
                <a:cs typeface="Times New Roman" panose="02020603050405020304" pitchFamily="18" charset="0"/>
              </a:rPr>
              <a:t>" (1:М): одному </a:t>
            </a:r>
            <a:r>
              <a:rPr lang="ru-RU" b="1" i="1" dirty="0" err="1">
                <a:solidFill>
                  <a:schemeClr val="tx1"/>
                </a:solidFill>
                <a:latin typeface="Times New Roman" panose="02020603050405020304" pitchFamily="18" charset="0"/>
                <a:cs typeface="Times New Roman" panose="02020603050405020304" pitchFamily="18" charset="0"/>
              </a:rPr>
              <a:t>представникові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сутності</a:t>
            </a:r>
            <a:r>
              <a:rPr lang="ru-RU" b="1" i="1" dirty="0">
                <a:solidFill>
                  <a:schemeClr val="tx1"/>
                </a:solidFill>
                <a:latin typeface="Times New Roman" panose="02020603050405020304" pitchFamily="18" charset="0"/>
                <a:cs typeface="Times New Roman" panose="02020603050405020304" pitchFamily="18" charset="0"/>
              </a:rPr>
              <a:t> А </a:t>
            </a:r>
            <a:r>
              <a:rPr lang="ru-RU" b="1" i="1" dirty="0" err="1">
                <a:solidFill>
                  <a:schemeClr val="tx1"/>
                </a:solidFill>
                <a:latin typeface="Times New Roman" panose="02020603050405020304" pitchFamily="18" charset="0"/>
                <a:cs typeface="Times New Roman" panose="02020603050405020304" pitchFamily="18" charset="0"/>
              </a:rPr>
              <a:t>відповідає</a:t>
            </a:r>
            <a:r>
              <a:rPr lang="ru-RU" b="1" i="1" dirty="0">
                <a:solidFill>
                  <a:schemeClr val="tx1"/>
                </a:solidFill>
                <a:latin typeface="Times New Roman" panose="02020603050405020304" pitchFamily="18" charset="0"/>
                <a:cs typeface="Times New Roman" panose="02020603050405020304" pitchFamily="18" charset="0"/>
              </a:rPr>
              <a:t> 0,1 </a:t>
            </a:r>
            <a:r>
              <a:rPr lang="ru-RU" b="1" i="1" dirty="0" err="1">
                <a:solidFill>
                  <a:schemeClr val="tx1"/>
                </a:solidFill>
                <a:latin typeface="Times New Roman" panose="02020603050405020304" pitchFamily="18" charset="0"/>
                <a:cs typeface="Times New Roman" panose="02020603050405020304" pitchFamily="18" charset="0"/>
              </a:rPr>
              <a:t>або</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кілька</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представників</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сутності</a:t>
            </a:r>
            <a:r>
              <a:rPr lang="ru-RU" b="1" i="1" dirty="0">
                <a:solidFill>
                  <a:schemeClr val="tx1"/>
                </a:solidFill>
                <a:latin typeface="Times New Roman" panose="02020603050405020304" pitchFamily="18" charset="0"/>
                <a:cs typeface="Times New Roman" panose="02020603050405020304" pitchFamily="18" charset="0"/>
              </a:rPr>
              <a:t> В. </a:t>
            </a:r>
            <a:r>
              <a:rPr lang="ru-RU" b="1" i="1" dirty="0" err="1">
                <a:solidFill>
                  <a:schemeClr val="tx1"/>
                </a:solidFill>
                <a:latin typeface="Times New Roman" panose="02020603050405020304" pitchFamily="18" charset="0"/>
                <a:cs typeface="Times New Roman" panose="02020603050405020304" pitchFamily="18" charset="0"/>
              </a:rPr>
              <a:t>Між</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двома</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сутностями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можливі</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зв'язки</a:t>
            </a:r>
            <a:r>
              <a:rPr lang="ru-RU" b="1" i="1" dirty="0">
                <a:solidFill>
                  <a:schemeClr val="tx1"/>
                </a:solidFill>
                <a:latin typeface="Times New Roman" panose="02020603050405020304" pitchFamily="18" charset="0"/>
                <a:cs typeface="Times New Roman" panose="02020603050405020304" pitchFamily="18" charset="0"/>
              </a:rPr>
              <a:t> в </a:t>
            </a:r>
            <a:r>
              <a:rPr lang="ru-RU" b="1" i="1" dirty="0" err="1">
                <a:solidFill>
                  <a:schemeClr val="tx1"/>
                </a:solidFill>
                <a:latin typeface="Times New Roman" panose="02020603050405020304" pitchFamily="18" charset="0"/>
                <a:cs typeface="Times New Roman" panose="02020603050405020304" pitchFamily="18" charset="0"/>
              </a:rPr>
              <a:t>обох</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напрямках</a:t>
            </a:r>
            <a:r>
              <a:rPr lang="ru-RU" b="1" i="1" dirty="0">
                <a:solidFill>
                  <a:schemeClr val="tx1"/>
                </a:solidFill>
                <a:latin typeface="Times New Roman" panose="02020603050405020304" pitchFamily="18" charset="0"/>
                <a:cs typeface="Times New Roman" panose="02020603050405020304" pitchFamily="18" charset="0"/>
              </a:rPr>
              <a:t>, тому </a:t>
            </a:r>
            <a:r>
              <a:rPr lang="ru-RU" b="1" i="1" dirty="0" err="1">
                <a:solidFill>
                  <a:schemeClr val="tx1"/>
                </a:solidFill>
                <a:latin typeface="Times New Roman" panose="02020603050405020304" pitchFamily="18" charset="0"/>
                <a:cs typeface="Times New Roman" panose="02020603050405020304" pitchFamily="18" charset="0"/>
              </a:rPr>
              <a:t>існують</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ще</a:t>
            </a:r>
            <a:r>
              <a:rPr lang="ru-RU" b="1" i="1" dirty="0">
                <a:solidFill>
                  <a:schemeClr val="tx1"/>
                </a:solidFill>
                <a:latin typeface="Times New Roman" panose="02020603050405020304" pitchFamily="18" charset="0"/>
                <a:cs typeface="Times New Roman" panose="02020603050405020304" pitchFamily="18" charset="0"/>
              </a:rPr>
              <a:t> два </a:t>
            </a:r>
            <a:r>
              <a:rPr lang="ru-RU" b="1" i="1" dirty="0" err="1">
                <a:solidFill>
                  <a:schemeClr val="tx1"/>
                </a:solidFill>
                <a:latin typeface="Times New Roman" panose="02020603050405020304" pitchFamily="18" charset="0"/>
                <a:cs typeface="Times New Roman" panose="02020603050405020304" pitchFamily="18" charset="0"/>
              </a:rPr>
              <a:t>типи</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зв'язків</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багато</a:t>
            </a:r>
            <a:r>
              <a:rPr lang="ru-RU" b="1" i="1" dirty="0">
                <a:solidFill>
                  <a:schemeClr val="tx1"/>
                </a:solidFill>
                <a:latin typeface="Times New Roman" panose="02020603050405020304" pitchFamily="18" charset="0"/>
                <a:cs typeface="Times New Roman" panose="02020603050405020304" pitchFamily="18" charset="0"/>
              </a:rPr>
              <a:t>-до-одного" (м:1) і "</a:t>
            </a:r>
            <a:r>
              <a:rPr lang="ru-RU" b="1" i="1" dirty="0" err="1">
                <a:solidFill>
                  <a:schemeClr val="tx1"/>
                </a:solidFill>
                <a:latin typeface="Times New Roman" panose="02020603050405020304" pitchFamily="18" charset="0"/>
                <a:cs typeface="Times New Roman" panose="02020603050405020304" pitchFamily="18" charset="0"/>
              </a:rPr>
              <a:t>багато</a:t>
            </a:r>
            <a:r>
              <a:rPr lang="ru-RU" b="1" i="1" dirty="0">
                <a:solidFill>
                  <a:schemeClr val="tx1"/>
                </a:solidFill>
                <a:latin typeface="Times New Roman" panose="02020603050405020304" pitchFamily="18" charset="0"/>
                <a:cs typeface="Times New Roman" panose="02020603050405020304" pitchFamily="18" charset="0"/>
              </a:rPr>
              <a:t>-до-</a:t>
            </a:r>
            <a:r>
              <a:rPr lang="ru-RU" b="1" i="1" dirty="0" err="1">
                <a:solidFill>
                  <a:schemeClr val="tx1"/>
                </a:solidFill>
                <a:latin typeface="Times New Roman" panose="02020603050405020304" pitchFamily="18" charset="0"/>
                <a:cs typeface="Times New Roman" panose="02020603050405020304" pitchFamily="18" charset="0"/>
              </a:rPr>
              <a:t>багатьох</a:t>
            </a:r>
            <a:r>
              <a:rPr lang="ru-RU" b="1" i="1" dirty="0">
                <a:solidFill>
                  <a:schemeClr val="tx1"/>
                </a:solidFill>
                <a:latin typeface="Times New Roman" panose="02020603050405020304" pitchFamily="18" charset="0"/>
                <a:cs typeface="Times New Roman" panose="02020603050405020304" pitchFamily="18" charset="0"/>
              </a:rPr>
              <a:t>" (</a:t>
            </a:r>
            <a:r>
              <a:rPr lang="ru-RU" b="1" i="1" dirty="0" err="1">
                <a:solidFill>
                  <a:schemeClr val="tx1"/>
                </a:solidFill>
                <a:latin typeface="Times New Roman" panose="02020603050405020304" pitchFamily="18" charset="0"/>
                <a:cs typeface="Times New Roman" panose="02020603050405020304" pitchFamily="18" charset="0"/>
              </a:rPr>
              <a:t>м:n</a:t>
            </a:r>
            <a:r>
              <a:rPr lang="ru-RU" b="1" i="1" dirty="0">
                <a:solidFill>
                  <a:schemeClr val="tx1"/>
                </a:solidFill>
                <a:latin typeface="Times New Roman" panose="02020603050405020304" pitchFamily="18" charset="0"/>
                <a:cs typeface="Times New Roman" panose="02020603050405020304" pitchFamily="18" charset="0"/>
              </a:rPr>
              <a:t>). </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7" name="Скругленный прямоугольник 6"/>
          <p:cNvSpPr/>
          <p:nvPr/>
        </p:nvSpPr>
        <p:spPr>
          <a:xfrm>
            <a:off x="6745857" y="3174521"/>
            <a:ext cx="5331125" cy="2872596"/>
          </a:xfrm>
          <a:prstGeom prst="roundRect">
            <a:avLst/>
          </a:prstGeom>
          <a:solidFill>
            <a:schemeClr val="accent1">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err="1">
                <a:solidFill>
                  <a:schemeClr val="tx1"/>
                </a:solidFill>
                <a:latin typeface="Times New Roman" panose="02020603050405020304" pitchFamily="18" charset="0"/>
                <a:cs typeface="Times New Roman" panose="02020603050405020304" pitchFamily="18" charset="0"/>
              </a:rPr>
              <a:t>Інфологічна</a:t>
            </a:r>
            <a:r>
              <a:rPr lang="uk-UA" b="1" i="1" dirty="0">
                <a:solidFill>
                  <a:schemeClr val="tx1"/>
                </a:solidFill>
                <a:latin typeface="Times New Roman" panose="02020603050405020304" pitchFamily="18" charset="0"/>
                <a:cs typeface="Times New Roman" panose="02020603050405020304" pitchFamily="18" charset="0"/>
              </a:rPr>
              <a:t> модель даних є основою для розробки концептуальної моделі даних (</a:t>
            </a:r>
            <a:r>
              <a:rPr lang="uk-UA" b="1" i="1" dirty="0" err="1">
                <a:solidFill>
                  <a:schemeClr val="tx1"/>
                </a:solidFill>
                <a:latin typeface="Times New Roman" panose="02020603050405020304" pitchFamily="18" charset="0"/>
                <a:cs typeface="Times New Roman" panose="02020603050405020304" pitchFamily="18" charset="0"/>
              </a:rPr>
              <a:t>даталогічної</a:t>
            </a:r>
            <a:r>
              <a:rPr lang="uk-UA" b="1" i="1" dirty="0">
                <a:solidFill>
                  <a:schemeClr val="tx1"/>
                </a:solidFill>
                <a:latin typeface="Times New Roman" panose="02020603050405020304" pitchFamily="18" charset="0"/>
                <a:cs typeface="Times New Roman" panose="02020603050405020304" pitchFamily="18" charset="0"/>
              </a:rPr>
              <a:t>). Концептуальний рівень описує дані, які мають зберігатись на машинних носіях, а також зв'язки, які існують між ними, і містить логічну структуру всієї бази даних. На цьому рівні описуються типи даних, здійснюється їх нормалізація, визначається перелік файлів бази даних.</a:t>
            </a:r>
          </a:p>
        </p:txBody>
      </p:sp>
    </p:spTree>
    <p:extLst>
      <p:ext uri="{BB962C8B-B14F-4D97-AF65-F5344CB8AC3E}">
        <p14:creationId xmlns:p14="http://schemas.microsoft.com/office/powerpoint/2010/main" val="1544106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181155" y="155275"/>
            <a:ext cx="4080294" cy="1207699"/>
          </a:xfrm>
          <a:prstGeom prst="ellipse">
            <a:avLst/>
          </a:prstGeom>
          <a:solidFill>
            <a:schemeClr val="accent4">
              <a:lumMod val="40000"/>
              <a:lumOff val="6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i="1" dirty="0">
                <a:solidFill>
                  <a:schemeClr val="tx1"/>
                </a:solidFill>
                <a:latin typeface="Times New Roman" panose="02020603050405020304" pitchFamily="18" charset="0"/>
                <a:cs typeface="Times New Roman" panose="02020603050405020304" pitchFamily="18" charset="0"/>
              </a:rPr>
              <a:t>2.3 Склад </a:t>
            </a:r>
            <a:r>
              <a:rPr lang="ru-RU" sz="2400" b="1" i="1" dirty="0" err="1">
                <a:solidFill>
                  <a:schemeClr val="tx1"/>
                </a:solidFill>
                <a:latin typeface="Times New Roman" panose="02020603050405020304" pitchFamily="18" charset="0"/>
                <a:cs typeface="Times New Roman" panose="02020603050405020304" pitchFamily="18" charset="0"/>
              </a:rPr>
              <a:t>таблиці</a:t>
            </a:r>
            <a:r>
              <a:rPr lang="ru-RU" sz="2400" b="1" i="1" dirty="0">
                <a:solidFill>
                  <a:schemeClr val="tx1"/>
                </a:solidFill>
                <a:latin typeface="Times New Roman" panose="02020603050405020304" pitchFamily="18" charset="0"/>
                <a:cs typeface="Times New Roman" panose="02020603050405020304" pitchFamily="18" charset="0"/>
              </a:rPr>
              <a:t> </a:t>
            </a:r>
            <a:r>
              <a:rPr lang="ru-RU" sz="2400" b="1" i="1" dirty="0" err="1">
                <a:solidFill>
                  <a:schemeClr val="tx1"/>
                </a:solidFill>
                <a:latin typeface="Times New Roman" panose="02020603050405020304" pitchFamily="18" charset="0"/>
                <a:cs typeface="Times New Roman" panose="02020603050405020304" pitchFamily="18" charset="0"/>
              </a:rPr>
              <a:t>бази</a:t>
            </a:r>
            <a:r>
              <a:rPr lang="ru-RU" sz="2400" b="1" i="1" dirty="0">
                <a:solidFill>
                  <a:schemeClr val="tx1"/>
                </a:solidFill>
                <a:latin typeface="Times New Roman" panose="02020603050405020304" pitchFamily="18" charset="0"/>
                <a:cs typeface="Times New Roman" panose="02020603050405020304" pitchFamily="18" charset="0"/>
              </a:rPr>
              <a:t> </a:t>
            </a:r>
            <a:r>
              <a:rPr lang="ru-RU" sz="2400" b="1" i="1" dirty="0" err="1">
                <a:solidFill>
                  <a:schemeClr val="tx1"/>
                </a:solidFill>
                <a:latin typeface="Times New Roman" panose="02020603050405020304" pitchFamily="18" charset="0"/>
                <a:cs typeface="Times New Roman" panose="02020603050405020304" pitchFamily="18" charset="0"/>
              </a:rPr>
              <a:t>даних</a:t>
            </a:r>
            <a:endParaRPr lang="uk-UA" sz="2400" b="1" i="1" dirty="0">
              <a:solidFill>
                <a:schemeClr val="tx1"/>
              </a:solidFill>
              <a:latin typeface="Times New Roman" panose="02020603050405020304" pitchFamily="18" charset="0"/>
              <a:cs typeface="Times New Roman" panose="02020603050405020304" pitchFamily="18" charset="0"/>
            </a:endParaRPr>
          </a:p>
        </p:txBody>
      </p:sp>
      <p:sp>
        <p:nvSpPr>
          <p:cNvPr id="5" name="Скругленный прямоугольник 4"/>
          <p:cNvSpPr/>
          <p:nvPr/>
        </p:nvSpPr>
        <p:spPr>
          <a:xfrm>
            <a:off x="5857336" y="388191"/>
            <a:ext cx="4848045" cy="1889184"/>
          </a:xfrm>
          <a:prstGeom prst="roundRect">
            <a:avLst/>
          </a:prstGeom>
          <a:solidFill>
            <a:schemeClr val="accent3">
              <a:lumMod val="40000"/>
              <a:lumOff val="6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Таблиці – основа БД, від них залежать всі інші об'єкти БД. Кожна таблиця складається із записів (рядків) та полів (стовпців). Робота з таблицями виконується у двох основних режимах: у режимі конструктора та режимі таблиці.</a:t>
            </a:r>
          </a:p>
        </p:txBody>
      </p:sp>
      <p:sp>
        <p:nvSpPr>
          <p:cNvPr id="6" name="Скругленный прямоугольник 5"/>
          <p:cNvSpPr/>
          <p:nvPr/>
        </p:nvSpPr>
        <p:spPr>
          <a:xfrm>
            <a:off x="181155" y="2406769"/>
            <a:ext cx="5391509" cy="3269411"/>
          </a:xfrm>
          <a:prstGeom prst="roundRect">
            <a:avLst/>
          </a:prstGeom>
          <a:solidFill>
            <a:schemeClr val="accent6">
              <a:lumMod val="40000"/>
              <a:lumOff val="6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Принципи організації даних: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Кожен </a:t>
            </a:r>
            <a:r>
              <a:rPr lang="uk-UA" b="1" i="1" dirty="0">
                <a:solidFill>
                  <a:schemeClr val="tx1"/>
                </a:solidFill>
                <a:latin typeface="Times New Roman" panose="02020603050405020304" pitchFamily="18" charset="0"/>
                <a:cs typeface="Times New Roman" panose="02020603050405020304" pitchFamily="18" charset="0"/>
              </a:rPr>
              <a:t>елемент таблиці – один елемент даних.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Всі </a:t>
            </a:r>
            <a:r>
              <a:rPr lang="uk-UA" b="1" i="1" dirty="0">
                <a:solidFill>
                  <a:schemeClr val="tx1"/>
                </a:solidFill>
                <a:latin typeface="Times New Roman" panose="02020603050405020304" pitchFamily="18" charset="0"/>
                <a:cs typeface="Times New Roman" panose="02020603050405020304" pitchFamily="18" charset="0"/>
              </a:rPr>
              <a:t>значення в одному стовпці є однорідними, тобто, мають один тип (числа, текст, дата і т. д.).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Кожен </a:t>
            </a:r>
            <a:r>
              <a:rPr lang="uk-UA" b="1" i="1" dirty="0">
                <a:solidFill>
                  <a:schemeClr val="tx1"/>
                </a:solidFill>
                <a:latin typeface="Times New Roman" panose="02020603050405020304" pitchFamily="18" charset="0"/>
                <a:cs typeface="Times New Roman" panose="02020603050405020304" pitchFamily="18" charset="0"/>
              </a:rPr>
              <a:t>запис у таблиці унікальний, тобто, в таблиці немає однакових рядків.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Кожне </a:t>
            </a:r>
            <a:r>
              <a:rPr lang="uk-UA" b="1" i="1" dirty="0">
                <a:solidFill>
                  <a:schemeClr val="tx1"/>
                </a:solidFill>
                <a:latin typeface="Times New Roman" panose="02020603050405020304" pitchFamily="18" charset="0"/>
                <a:cs typeface="Times New Roman" panose="02020603050405020304" pitchFamily="18" charset="0"/>
              </a:rPr>
              <a:t>поле має унікальне ім'я.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Послідовність </a:t>
            </a:r>
            <a:r>
              <a:rPr lang="uk-UA" b="1" i="1" dirty="0">
                <a:solidFill>
                  <a:schemeClr val="tx1"/>
                </a:solidFill>
                <a:latin typeface="Times New Roman" panose="02020603050405020304" pitchFamily="18" charset="0"/>
                <a:cs typeface="Times New Roman" panose="02020603050405020304" pitchFamily="18" charset="0"/>
              </a:rPr>
              <a:t>полів у таблиці несуттєва.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Послідовність </a:t>
            </a:r>
            <a:r>
              <a:rPr lang="uk-UA" b="1" i="1" dirty="0">
                <a:solidFill>
                  <a:schemeClr val="tx1"/>
                </a:solidFill>
                <a:latin typeface="Times New Roman" panose="02020603050405020304" pitchFamily="18" charset="0"/>
                <a:cs typeface="Times New Roman" panose="02020603050405020304" pitchFamily="18" charset="0"/>
              </a:rPr>
              <a:t>записів у таблиці несуттєва</a:t>
            </a:r>
          </a:p>
        </p:txBody>
      </p:sp>
      <p:sp>
        <p:nvSpPr>
          <p:cNvPr id="7" name="Скругленный прямоугольник 6"/>
          <p:cNvSpPr/>
          <p:nvPr/>
        </p:nvSpPr>
        <p:spPr>
          <a:xfrm>
            <a:off x="5857336" y="2406771"/>
            <a:ext cx="5909094" cy="2001328"/>
          </a:xfrm>
          <a:prstGeom prst="roundRect">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i="1" dirty="0">
                <a:solidFill>
                  <a:schemeClr val="tx1"/>
                </a:solidFill>
                <a:latin typeface="Times New Roman" panose="02020603050405020304" pitchFamily="18" charset="0"/>
                <a:cs typeface="Times New Roman" panose="02020603050405020304" pitchFamily="18" charset="0"/>
              </a:rPr>
              <a:t>VARCHAR – </a:t>
            </a:r>
            <a:r>
              <a:rPr lang="uk-UA" b="1" i="1" dirty="0">
                <a:solidFill>
                  <a:schemeClr val="tx1"/>
                </a:solidFill>
                <a:latin typeface="Times New Roman" panose="02020603050405020304" pitchFamily="18" charset="0"/>
                <a:cs typeface="Times New Roman" panose="02020603050405020304" pitchFamily="18" charset="0"/>
              </a:rPr>
              <a:t>текстовий тип даних, який містить рядок змінної довжини. Найбільша довжина задається в дужках. </a:t>
            </a:r>
            <a:r>
              <a:rPr lang="uk-UA" b="1" i="1" dirty="0">
                <a:solidFill>
                  <a:schemeClr val="tx1"/>
                </a:solidFill>
                <a:latin typeface="Times New Roman" panose="02020603050405020304" pitchFamily="18" charset="0"/>
                <a:cs typeface="Times New Roman" panose="02020603050405020304" pitchFamily="18" charset="0"/>
              </a:rPr>
              <a:t>Може зберігати до 255 символів. </a:t>
            </a:r>
            <a:endParaRPr lang="uk-UA" b="1" i="1" dirty="0" smtClean="0">
              <a:solidFill>
                <a:schemeClr val="tx1"/>
              </a:solidFill>
              <a:latin typeface="Times New Roman" panose="02020603050405020304" pitchFamily="18" charset="0"/>
              <a:cs typeface="Times New Roman" panose="02020603050405020304" pitchFamily="18" charset="0"/>
            </a:endParaRPr>
          </a:p>
          <a:p>
            <a:pPr algn="just"/>
            <a:r>
              <a:rPr lang="uk-UA" b="1" i="1" dirty="0" smtClean="0">
                <a:solidFill>
                  <a:schemeClr val="tx1"/>
                </a:solidFill>
                <a:latin typeface="Times New Roman" panose="02020603050405020304" pitchFamily="18" charset="0"/>
                <a:cs typeface="Times New Roman" panose="02020603050405020304" pitchFamily="18" charset="0"/>
              </a:rPr>
              <a:t>У </a:t>
            </a:r>
            <a:r>
              <a:rPr lang="uk-UA" b="1" i="1" dirty="0">
                <a:solidFill>
                  <a:schemeClr val="tx1"/>
                </a:solidFill>
                <a:latin typeface="Times New Roman" panose="02020603050405020304" pitchFamily="18" charset="0"/>
                <a:cs typeface="Times New Roman" panose="02020603050405020304" pitchFamily="18" charset="0"/>
              </a:rPr>
              <a:t>стовпці типу даних </a:t>
            </a:r>
            <a:r>
              <a:rPr lang="en-US" b="1" i="1" dirty="0">
                <a:solidFill>
                  <a:schemeClr val="tx1"/>
                </a:solidFill>
                <a:latin typeface="Times New Roman" panose="02020603050405020304" pitchFamily="18" charset="0"/>
                <a:cs typeface="Times New Roman" panose="02020603050405020304" pitchFamily="18" charset="0"/>
              </a:rPr>
              <a:t>CHAR </a:t>
            </a:r>
            <a:r>
              <a:rPr lang="uk-UA" b="1" i="1" dirty="0">
                <a:solidFill>
                  <a:schemeClr val="tx1"/>
                </a:solidFill>
                <a:latin typeface="Times New Roman" panose="02020603050405020304" pitchFamily="18" charset="0"/>
                <a:cs typeface="Times New Roman" panose="02020603050405020304" pitchFamily="18" charset="0"/>
              </a:rPr>
              <a:t>довжина поля постійна і задається при створенні таблиці. Ця довжина може приймати будь-яке значення між 1 і 255.</a:t>
            </a:r>
          </a:p>
        </p:txBody>
      </p:sp>
      <p:sp>
        <p:nvSpPr>
          <p:cNvPr id="8" name="Скругленный прямоугольник 7"/>
          <p:cNvSpPr/>
          <p:nvPr/>
        </p:nvSpPr>
        <p:spPr>
          <a:xfrm>
            <a:off x="5857336" y="4666891"/>
            <a:ext cx="5305245" cy="1328468"/>
          </a:xfrm>
          <a:prstGeom prst="roundRect">
            <a:avLst/>
          </a:pr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i="1" dirty="0">
                <a:solidFill>
                  <a:schemeClr val="tx1"/>
                </a:solidFill>
                <a:latin typeface="Times New Roman" panose="02020603050405020304" pitchFamily="18" charset="0"/>
                <a:cs typeface="Times New Roman" panose="02020603050405020304" pitchFamily="18" charset="0"/>
              </a:rPr>
              <a:t>MySQL </a:t>
            </a:r>
            <a:r>
              <a:rPr lang="uk-UA" b="1" i="1" dirty="0">
                <a:solidFill>
                  <a:schemeClr val="tx1"/>
                </a:solidFill>
                <a:latin typeface="Times New Roman" panose="02020603050405020304" pitchFamily="18" charset="0"/>
                <a:cs typeface="Times New Roman" panose="02020603050405020304" pitchFamily="18" charset="0"/>
              </a:rPr>
              <a:t>автоматично додає 1-2 байти на зберігання довжини самого рядка. </a:t>
            </a:r>
            <a:r>
              <a:rPr lang="en-US" b="1" i="1" dirty="0">
                <a:solidFill>
                  <a:schemeClr val="tx1"/>
                </a:solidFill>
                <a:latin typeface="Times New Roman" panose="02020603050405020304" pitchFamily="18" charset="0"/>
                <a:cs typeface="Times New Roman" panose="02020603050405020304" pitchFamily="18" charset="0"/>
              </a:rPr>
              <a:t>MySQL </a:t>
            </a:r>
            <a:r>
              <a:rPr lang="uk-UA" b="1" i="1" dirty="0">
                <a:solidFill>
                  <a:schemeClr val="tx1"/>
                </a:solidFill>
                <a:latin typeface="Times New Roman" panose="02020603050405020304" pitchFamily="18" charset="0"/>
                <a:cs typeface="Times New Roman" panose="02020603050405020304" pitchFamily="18" charset="0"/>
              </a:rPr>
              <a:t>може без попередження змінити тип стовпця </a:t>
            </a:r>
            <a:r>
              <a:rPr lang="en-US" b="1" i="1" dirty="0">
                <a:solidFill>
                  <a:schemeClr val="tx1"/>
                </a:solidFill>
                <a:latin typeface="Times New Roman" panose="02020603050405020304" pitchFamily="18" charset="0"/>
                <a:cs typeface="Times New Roman" panose="02020603050405020304" pitchFamily="18" charset="0"/>
              </a:rPr>
              <a:t>CHAR </a:t>
            </a:r>
            <a:r>
              <a:rPr lang="uk-UA" b="1" i="1" dirty="0">
                <a:solidFill>
                  <a:schemeClr val="tx1"/>
                </a:solidFill>
                <a:latin typeface="Times New Roman" panose="02020603050405020304" pitchFamily="18" charset="0"/>
                <a:cs typeface="Times New Roman" panose="02020603050405020304" pitchFamily="18" charset="0"/>
              </a:rPr>
              <a:t>або </a:t>
            </a:r>
            <a:r>
              <a:rPr lang="en-US" b="1" i="1" dirty="0">
                <a:solidFill>
                  <a:schemeClr val="tx1"/>
                </a:solidFill>
                <a:latin typeface="Times New Roman" panose="02020603050405020304" pitchFamily="18" charset="0"/>
                <a:cs typeface="Times New Roman" panose="02020603050405020304" pitchFamily="18" charset="0"/>
              </a:rPr>
              <a:t>VARCHAR </a:t>
            </a:r>
            <a:r>
              <a:rPr lang="uk-UA" b="1" i="1" dirty="0">
                <a:solidFill>
                  <a:schemeClr val="tx1"/>
                </a:solidFill>
                <a:latin typeface="Times New Roman" panose="02020603050405020304" pitchFamily="18" charset="0"/>
                <a:cs typeface="Times New Roman" panose="02020603050405020304" pitchFamily="18" charset="0"/>
              </a:rPr>
              <a:t>під час створення таблиці.</a:t>
            </a:r>
          </a:p>
        </p:txBody>
      </p:sp>
    </p:spTree>
    <p:extLst>
      <p:ext uri="{BB962C8B-B14F-4D97-AF65-F5344CB8AC3E}">
        <p14:creationId xmlns:p14="http://schemas.microsoft.com/office/powerpoint/2010/main" val="373784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146649" y="207034"/>
            <a:ext cx="3881887" cy="1112807"/>
          </a:xfrm>
          <a:prstGeom prst="ellipse">
            <a:avLst/>
          </a:prstGeom>
          <a:solidFill>
            <a:schemeClr val="accent5">
              <a:lumMod val="40000"/>
              <a:lumOff val="6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i="1" dirty="0">
                <a:solidFill>
                  <a:schemeClr val="tx1"/>
                </a:solidFill>
                <a:latin typeface="Times New Roman" panose="02020603050405020304" pitchFamily="18" charset="0"/>
                <a:cs typeface="Times New Roman" panose="02020603050405020304" pitchFamily="18" charset="0"/>
              </a:rPr>
              <a:t>2.4 </a:t>
            </a:r>
            <a:r>
              <a:rPr lang="ru-RU" sz="2400" b="1" i="1" dirty="0" err="1">
                <a:solidFill>
                  <a:schemeClr val="tx1"/>
                </a:solidFill>
                <a:latin typeface="Times New Roman" panose="02020603050405020304" pitchFamily="18" charset="0"/>
                <a:cs typeface="Times New Roman" panose="02020603050405020304" pitchFamily="18" charset="0"/>
              </a:rPr>
              <a:t>Запити</a:t>
            </a:r>
            <a:r>
              <a:rPr lang="ru-RU" sz="2400" b="1" i="1" dirty="0">
                <a:solidFill>
                  <a:schemeClr val="tx1"/>
                </a:solidFill>
                <a:latin typeface="Times New Roman" panose="02020603050405020304" pitchFamily="18" charset="0"/>
                <a:cs typeface="Times New Roman" panose="02020603050405020304" pitchFamily="18" charset="0"/>
              </a:rPr>
              <a:t> до </a:t>
            </a:r>
            <a:r>
              <a:rPr lang="ru-RU" sz="2400" b="1" i="1" dirty="0" err="1">
                <a:solidFill>
                  <a:schemeClr val="tx1"/>
                </a:solidFill>
                <a:latin typeface="Times New Roman" panose="02020603050405020304" pitchFamily="18" charset="0"/>
                <a:cs typeface="Times New Roman" panose="02020603050405020304" pitchFamily="18" charset="0"/>
              </a:rPr>
              <a:t>таблиць</a:t>
            </a:r>
            <a:r>
              <a:rPr lang="ru-RU" sz="2400" b="1" i="1" dirty="0">
                <a:solidFill>
                  <a:schemeClr val="tx1"/>
                </a:solidFill>
                <a:latin typeface="Times New Roman" panose="02020603050405020304" pitchFamily="18" charset="0"/>
                <a:cs typeface="Times New Roman" panose="02020603050405020304" pitchFamily="18" charset="0"/>
              </a:rPr>
              <a:t> </a:t>
            </a:r>
            <a:r>
              <a:rPr lang="ru-RU" sz="2400" b="1" i="1" dirty="0" err="1">
                <a:solidFill>
                  <a:schemeClr val="tx1"/>
                </a:solidFill>
                <a:latin typeface="Times New Roman" panose="02020603050405020304" pitchFamily="18" charset="0"/>
                <a:cs typeface="Times New Roman" panose="02020603050405020304" pitchFamily="18" charset="0"/>
              </a:rPr>
              <a:t>бази</a:t>
            </a:r>
            <a:r>
              <a:rPr lang="ru-RU" sz="2400" b="1" i="1" dirty="0">
                <a:solidFill>
                  <a:schemeClr val="tx1"/>
                </a:solidFill>
                <a:latin typeface="Times New Roman" panose="02020603050405020304" pitchFamily="18" charset="0"/>
                <a:cs typeface="Times New Roman" panose="02020603050405020304" pitchFamily="18" charset="0"/>
              </a:rPr>
              <a:t> </a:t>
            </a:r>
            <a:r>
              <a:rPr lang="ru-RU" sz="2400" b="1" i="1" dirty="0" err="1">
                <a:solidFill>
                  <a:schemeClr val="tx1"/>
                </a:solidFill>
                <a:latin typeface="Times New Roman" panose="02020603050405020304" pitchFamily="18" charset="0"/>
                <a:cs typeface="Times New Roman" panose="02020603050405020304" pitchFamily="18" charset="0"/>
              </a:rPr>
              <a:t>даних</a:t>
            </a:r>
            <a:endParaRPr lang="uk-UA" sz="2400" b="1" i="1" dirty="0">
              <a:solidFill>
                <a:schemeClr val="tx1"/>
              </a:solidFill>
              <a:latin typeface="Times New Roman" panose="02020603050405020304" pitchFamily="18" charset="0"/>
              <a:cs typeface="Times New Roman" panose="02020603050405020304" pitchFamily="18" charset="0"/>
            </a:endParaRPr>
          </a:p>
        </p:txBody>
      </p:sp>
      <p:sp>
        <p:nvSpPr>
          <p:cNvPr id="5" name="Скругленный прямоугольник 4"/>
          <p:cNvSpPr/>
          <p:nvPr/>
        </p:nvSpPr>
        <p:spPr>
          <a:xfrm>
            <a:off x="4209689" y="763437"/>
            <a:ext cx="5771073" cy="2273061"/>
          </a:xfrm>
          <a:prstGeom prst="roundRect">
            <a:avLst/>
          </a:prstGeom>
          <a:solidFill>
            <a:schemeClr val="accent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Існують різні види запитів: вибірки, збереження результату запиту в новій таблиці, оновлення значень полів записів, додавання нових або видалення існуючих записів, "перехресний" та інші, в яких задаються умови відбору, сортування або групування записів, обчислюються статистичні підсумки, обчислюються нові поля і </a:t>
            </a:r>
            <a:r>
              <a:rPr lang="uk-UA" b="1" i="1" dirty="0" err="1" smtClean="0">
                <a:solidFill>
                  <a:schemeClr val="tx1"/>
                </a:solidFill>
                <a:latin typeface="Times New Roman" panose="02020603050405020304" pitchFamily="18" charset="0"/>
                <a:cs typeface="Times New Roman" panose="02020603050405020304" pitchFamily="18" charset="0"/>
              </a:rPr>
              <a:t>т.п</a:t>
            </a:r>
            <a:r>
              <a:rPr lang="uk-UA" b="1" i="1" dirty="0" smtClean="0">
                <a:solidFill>
                  <a:schemeClr val="tx1"/>
                </a:solidFill>
                <a:latin typeface="Times New Roman" panose="02020603050405020304" pitchFamily="18" charset="0"/>
                <a:cs typeface="Times New Roman" panose="02020603050405020304" pitchFamily="18" charset="0"/>
              </a:rPr>
              <a:t>.</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6" name="Скругленный прямоугольник 5"/>
          <p:cNvSpPr/>
          <p:nvPr/>
        </p:nvSpPr>
        <p:spPr>
          <a:xfrm>
            <a:off x="1009290" y="3191775"/>
            <a:ext cx="7203057" cy="2760452"/>
          </a:xfrm>
          <a:prstGeom prst="roundRect">
            <a:avLst/>
          </a:prstGeom>
          <a:solidFill>
            <a:schemeClr val="bg2">
              <a:lumMod val="60000"/>
              <a:lumOff val="4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Запити: </a:t>
            </a:r>
            <a:endParaRPr lang="uk-UA" b="1" i="1" dirty="0" smtClean="0">
              <a:solidFill>
                <a:schemeClr val="tx1"/>
              </a:solidFill>
              <a:latin typeface="Times New Roman" panose="02020603050405020304" pitchFamily="18" charset="0"/>
              <a:cs typeface="Times New Roman" panose="02020603050405020304" pitchFamily="18" charset="0"/>
            </a:endParaRPr>
          </a:p>
          <a:p>
            <a:pPr marL="342900" indent="-342900" algn="just">
              <a:buAutoNum type="arabicPeriod"/>
            </a:pPr>
            <a:r>
              <a:rPr lang="en-US" b="1" i="1" dirty="0" smtClean="0">
                <a:solidFill>
                  <a:schemeClr val="tx1"/>
                </a:solidFill>
                <a:latin typeface="Times New Roman" panose="02020603050405020304" pitchFamily="18" charset="0"/>
                <a:cs typeface="Times New Roman" panose="02020603050405020304" pitchFamily="18" charset="0"/>
              </a:rPr>
              <a:t>CREATE </a:t>
            </a:r>
            <a:r>
              <a:rPr lang="en-US" b="1" i="1" dirty="0">
                <a:solidFill>
                  <a:schemeClr val="tx1"/>
                </a:solidFill>
                <a:latin typeface="Times New Roman" panose="02020603050405020304" pitchFamily="18" charset="0"/>
                <a:cs typeface="Times New Roman" panose="02020603050405020304" pitchFamily="18" charset="0"/>
              </a:rPr>
              <a:t>TABLE – </a:t>
            </a:r>
            <a:r>
              <a:rPr lang="uk-UA" b="1" i="1" dirty="0">
                <a:solidFill>
                  <a:schemeClr val="tx1"/>
                </a:solidFill>
                <a:latin typeface="Times New Roman" panose="02020603050405020304" pitchFamily="18" charset="0"/>
                <a:cs typeface="Times New Roman" panose="02020603050405020304" pitchFamily="18" charset="0"/>
              </a:rPr>
              <a:t>створення таблиці. </a:t>
            </a:r>
            <a:endParaRPr lang="uk-UA" b="1" i="1" dirty="0" smtClean="0">
              <a:solidFill>
                <a:schemeClr val="tx1"/>
              </a:solidFill>
              <a:latin typeface="Times New Roman" panose="02020603050405020304" pitchFamily="18" charset="0"/>
              <a:cs typeface="Times New Roman" panose="02020603050405020304" pitchFamily="18" charset="0"/>
            </a:endParaRPr>
          </a:p>
          <a:p>
            <a:pPr marL="342900" indent="-342900" algn="just">
              <a:buAutoNum type="arabicPeriod"/>
            </a:pPr>
            <a:r>
              <a:rPr lang="en-US" b="1" i="1" dirty="0" smtClean="0">
                <a:solidFill>
                  <a:schemeClr val="tx1"/>
                </a:solidFill>
                <a:latin typeface="Times New Roman" panose="02020603050405020304" pitchFamily="18" charset="0"/>
                <a:cs typeface="Times New Roman" panose="02020603050405020304" pitchFamily="18" charset="0"/>
              </a:rPr>
              <a:t>DROP </a:t>
            </a:r>
            <a:r>
              <a:rPr lang="en-US" b="1" i="1" dirty="0">
                <a:solidFill>
                  <a:schemeClr val="tx1"/>
                </a:solidFill>
                <a:latin typeface="Times New Roman" panose="02020603050405020304" pitchFamily="18" charset="0"/>
                <a:cs typeface="Times New Roman" panose="02020603050405020304" pitchFamily="18" charset="0"/>
              </a:rPr>
              <a:t>TABLE - </a:t>
            </a:r>
            <a:r>
              <a:rPr lang="uk-UA" b="1" i="1" dirty="0">
                <a:solidFill>
                  <a:schemeClr val="tx1"/>
                </a:solidFill>
                <a:latin typeface="Times New Roman" panose="02020603050405020304" pitchFamily="18" charset="0"/>
                <a:cs typeface="Times New Roman" panose="02020603050405020304" pitchFamily="18" charset="0"/>
              </a:rPr>
              <a:t>видалення таблиці з бази</a:t>
            </a:r>
            <a:r>
              <a:rPr lang="uk-UA" b="1" i="1" dirty="0" smtClean="0">
                <a:solidFill>
                  <a:schemeClr val="tx1"/>
                </a:solidFill>
                <a:latin typeface="Times New Roman" panose="02020603050405020304" pitchFamily="18" charset="0"/>
                <a:cs typeface="Times New Roman" panose="02020603050405020304" pitchFamily="18" charset="0"/>
              </a:rPr>
              <a:t>.</a:t>
            </a:r>
          </a:p>
          <a:p>
            <a:pPr marL="342900" indent="-342900" algn="just">
              <a:buAutoNum type="arabicPeriod"/>
            </a:pPr>
            <a:r>
              <a:rPr lang="en-US" b="1" i="1" dirty="0" smtClean="0">
                <a:solidFill>
                  <a:schemeClr val="tx1"/>
                </a:solidFill>
                <a:latin typeface="Times New Roman" panose="02020603050405020304" pitchFamily="18" charset="0"/>
                <a:cs typeface="Times New Roman" panose="02020603050405020304" pitchFamily="18" charset="0"/>
              </a:rPr>
              <a:t>TRUNCATE </a:t>
            </a:r>
            <a:r>
              <a:rPr lang="en-US" b="1" i="1" dirty="0">
                <a:solidFill>
                  <a:schemeClr val="tx1"/>
                </a:solidFill>
                <a:latin typeface="Times New Roman" panose="02020603050405020304" pitchFamily="18" charset="0"/>
                <a:cs typeface="Times New Roman" panose="02020603050405020304" pitchFamily="18" charset="0"/>
              </a:rPr>
              <a:t>TABLE – </a:t>
            </a:r>
            <a:r>
              <a:rPr lang="uk-UA" b="1" i="1" dirty="0">
                <a:solidFill>
                  <a:schemeClr val="tx1"/>
                </a:solidFill>
                <a:latin typeface="Times New Roman" panose="02020603050405020304" pitchFamily="18" charset="0"/>
                <a:cs typeface="Times New Roman" panose="02020603050405020304" pitchFamily="18" charset="0"/>
              </a:rPr>
              <a:t>видалення даних з таблиці. </a:t>
            </a:r>
          </a:p>
          <a:p>
            <a:pPr marL="342900" indent="-342900" algn="just">
              <a:buAutoNum type="arabicPeriod"/>
            </a:pPr>
            <a:r>
              <a:rPr lang="en-US" b="1" i="1" dirty="0" smtClean="0">
                <a:solidFill>
                  <a:schemeClr val="tx1"/>
                </a:solidFill>
                <a:latin typeface="Times New Roman" panose="02020603050405020304" pitchFamily="18" charset="0"/>
                <a:cs typeface="Times New Roman" panose="02020603050405020304" pitchFamily="18" charset="0"/>
              </a:rPr>
              <a:t>RENAME </a:t>
            </a:r>
            <a:r>
              <a:rPr lang="en-US" b="1" i="1" dirty="0">
                <a:solidFill>
                  <a:schemeClr val="tx1"/>
                </a:solidFill>
                <a:latin typeface="Times New Roman" panose="02020603050405020304" pitchFamily="18" charset="0"/>
                <a:cs typeface="Times New Roman" panose="02020603050405020304" pitchFamily="18" charset="0"/>
              </a:rPr>
              <a:t>TABLE – </a:t>
            </a:r>
            <a:r>
              <a:rPr lang="uk-UA" b="1" i="1" dirty="0">
                <a:solidFill>
                  <a:schemeClr val="tx1"/>
                </a:solidFill>
                <a:latin typeface="Times New Roman" panose="02020603050405020304" pitchFamily="18" charset="0"/>
                <a:cs typeface="Times New Roman" panose="02020603050405020304" pitchFamily="18" charset="0"/>
              </a:rPr>
              <a:t>перейменувати таблицю. </a:t>
            </a:r>
          </a:p>
          <a:p>
            <a:pPr marL="342900" indent="-342900" algn="just">
              <a:buAutoNum type="arabicPeriod"/>
            </a:pPr>
            <a:r>
              <a:rPr lang="en-US" b="1" i="1" dirty="0" smtClean="0">
                <a:solidFill>
                  <a:schemeClr val="tx1"/>
                </a:solidFill>
                <a:latin typeface="Times New Roman" panose="02020603050405020304" pitchFamily="18" charset="0"/>
                <a:cs typeface="Times New Roman" panose="02020603050405020304" pitchFamily="18" charset="0"/>
              </a:rPr>
              <a:t>SELECT </a:t>
            </a:r>
            <a:r>
              <a:rPr lang="en-US" b="1" i="1" dirty="0">
                <a:solidFill>
                  <a:schemeClr val="tx1"/>
                </a:solidFill>
                <a:latin typeface="Times New Roman" panose="02020603050405020304" pitchFamily="18" charset="0"/>
                <a:cs typeface="Times New Roman" panose="02020603050405020304" pitchFamily="18" charset="0"/>
              </a:rPr>
              <a:t>* FROM -</a:t>
            </a:r>
            <a:r>
              <a:rPr lang="uk-UA" b="1" i="1" dirty="0">
                <a:solidFill>
                  <a:schemeClr val="tx1"/>
                </a:solidFill>
                <a:latin typeface="Times New Roman" panose="02020603050405020304" pitchFamily="18" charset="0"/>
                <a:cs typeface="Times New Roman" panose="02020603050405020304" pitchFamily="18" charset="0"/>
              </a:rPr>
              <a:t>вивід таблиці. </a:t>
            </a:r>
            <a:endParaRPr lang="uk-UA" b="1" i="1" dirty="0" smtClean="0">
              <a:solidFill>
                <a:schemeClr val="tx1"/>
              </a:solidFill>
              <a:latin typeface="Times New Roman" panose="02020603050405020304" pitchFamily="18" charset="0"/>
              <a:cs typeface="Times New Roman" panose="02020603050405020304" pitchFamily="18" charset="0"/>
            </a:endParaRPr>
          </a:p>
          <a:p>
            <a:pPr marL="342900" indent="-342900" algn="just">
              <a:buAutoNum type="arabicPeriod"/>
            </a:pPr>
            <a:r>
              <a:rPr lang="en-US" b="1" i="1" dirty="0" smtClean="0">
                <a:solidFill>
                  <a:schemeClr val="tx1"/>
                </a:solidFill>
                <a:latin typeface="Times New Roman" panose="02020603050405020304" pitchFamily="18" charset="0"/>
                <a:cs typeface="Times New Roman" panose="02020603050405020304" pitchFamily="18" charset="0"/>
              </a:rPr>
              <a:t>DETACH </a:t>
            </a:r>
            <a:r>
              <a:rPr lang="en-US" b="1" i="1" dirty="0">
                <a:solidFill>
                  <a:schemeClr val="tx1"/>
                </a:solidFill>
                <a:latin typeface="Times New Roman" panose="02020603050405020304" pitchFamily="18" charset="0"/>
                <a:cs typeface="Times New Roman" panose="02020603050405020304" pitchFamily="18" charset="0"/>
              </a:rPr>
              <a:t>TABLE – </a:t>
            </a:r>
            <a:r>
              <a:rPr lang="uk-UA" b="1" i="1" dirty="0">
                <a:solidFill>
                  <a:schemeClr val="tx1"/>
                </a:solidFill>
                <a:latin typeface="Times New Roman" panose="02020603050405020304" pitchFamily="18" charset="0"/>
                <a:cs typeface="Times New Roman" panose="02020603050405020304" pitchFamily="18" charset="0"/>
              </a:rPr>
              <a:t>видаляє з серверу інформацію про таблицю. </a:t>
            </a:r>
          </a:p>
          <a:p>
            <a:pPr marL="342900" indent="-342900" algn="just">
              <a:buAutoNum type="arabicPeriod"/>
            </a:pPr>
            <a:r>
              <a:rPr lang="en-US" b="1" i="1" dirty="0" smtClean="0">
                <a:solidFill>
                  <a:schemeClr val="tx1"/>
                </a:solidFill>
                <a:latin typeface="Times New Roman" panose="02020603050405020304" pitchFamily="18" charset="0"/>
                <a:cs typeface="Times New Roman" panose="02020603050405020304" pitchFamily="18" charset="0"/>
              </a:rPr>
              <a:t>INSERT </a:t>
            </a:r>
            <a:r>
              <a:rPr lang="en-US" b="1" i="1" dirty="0">
                <a:solidFill>
                  <a:schemeClr val="tx1"/>
                </a:solidFill>
                <a:latin typeface="Times New Roman" panose="02020603050405020304" pitchFamily="18" charset="0"/>
                <a:cs typeface="Times New Roman" panose="02020603050405020304" pitchFamily="18" charset="0"/>
              </a:rPr>
              <a:t>INTO - </a:t>
            </a:r>
            <a:r>
              <a:rPr lang="uk-UA" b="1" i="1" dirty="0">
                <a:solidFill>
                  <a:schemeClr val="tx1"/>
                </a:solidFill>
                <a:latin typeface="Times New Roman" panose="02020603050405020304" pitchFamily="18" charset="0"/>
                <a:cs typeface="Times New Roman" panose="02020603050405020304" pitchFamily="18" charset="0"/>
              </a:rPr>
              <a:t>наповнення полів таблиці. </a:t>
            </a:r>
          </a:p>
          <a:p>
            <a:pPr marL="342900" indent="-342900" algn="just">
              <a:buAutoNum type="arabicPeriod"/>
            </a:pPr>
            <a:r>
              <a:rPr lang="en-US" b="1" i="1" dirty="0" smtClean="0">
                <a:solidFill>
                  <a:schemeClr val="tx1"/>
                </a:solidFill>
                <a:latin typeface="Times New Roman" panose="02020603050405020304" pitchFamily="18" charset="0"/>
                <a:cs typeface="Times New Roman" panose="02020603050405020304" pitchFamily="18" charset="0"/>
              </a:rPr>
              <a:t>USE </a:t>
            </a:r>
            <a:r>
              <a:rPr lang="en-US" b="1" i="1" dirty="0">
                <a:solidFill>
                  <a:schemeClr val="tx1"/>
                </a:solidFill>
                <a:latin typeface="Times New Roman" panose="02020603050405020304" pitchFamily="18" charset="0"/>
                <a:cs typeface="Times New Roman" panose="02020603050405020304" pitchFamily="18" charset="0"/>
              </a:rPr>
              <a:t>– </a:t>
            </a:r>
            <a:r>
              <a:rPr lang="uk-UA" b="1" i="1" dirty="0">
                <a:solidFill>
                  <a:schemeClr val="tx1"/>
                </a:solidFill>
                <a:latin typeface="Times New Roman" panose="02020603050405020304" pitchFamily="18" charset="0"/>
                <a:cs typeface="Times New Roman" panose="02020603050405020304" pitchFamily="18" charset="0"/>
              </a:rPr>
              <a:t>продовжити працювати в даній базі даних тощо</a:t>
            </a:r>
          </a:p>
        </p:txBody>
      </p:sp>
    </p:spTree>
    <p:extLst>
      <p:ext uri="{BB962C8B-B14F-4D97-AF65-F5344CB8AC3E}">
        <p14:creationId xmlns:p14="http://schemas.microsoft.com/office/powerpoint/2010/main" val="3904477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163902" y="155277"/>
            <a:ext cx="4623758" cy="1380226"/>
          </a:xfrm>
          <a:prstGeom prst="ellipse">
            <a:avLst/>
          </a:prstGeom>
          <a:solidFill>
            <a:schemeClr val="accent4">
              <a:lumMod val="40000"/>
              <a:lumOff val="6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b="1" i="1" dirty="0">
                <a:solidFill>
                  <a:schemeClr val="tx1"/>
                </a:solidFill>
                <a:latin typeface="Times New Roman" panose="02020603050405020304" pitchFamily="18" charset="0"/>
                <a:cs typeface="Times New Roman" panose="02020603050405020304" pitchFamily="18" charset="0"/>
              </a:rPr>
              <a:t>2.5 </a:t>
            </a:r>
            <a:r>
              <a:rPr lang="ru-RU" sz="2400" b="1" i="1" dirty="0" err="1">
                <a:solidFill>
                  <a:schemeClr val="tx1"/>
                </a:solidFill>
                <a:latin typeface="Times New Roman" panose="02020603050405020304" pitchFamily="18" charset="0"/>
                <a:cs typeface="Times New Roman" panose="02020603050405020304" pitchFamily="18" charset="0"/>
              </a:rPr>
              <a:t>Сучасні</a:t>
            </a:r>
            <a:r>
              <a:rPr lang="ru-RU" sz="2400" b="1" i="1" dirty="0">
                <a:solidFill>
                  <a:schemeClr val="tx1"/>
                </a:solidFill>
                <a:latin typeface="Times New Roman" panose="02020603050405020304" pitchFamily="18" charset="0"/>
                <a:cs typeface="Times New Roman" panose="02020603050405020304" pitchFamily="18" charset="0"/>
              </a:rPr>
              <a:t> </a:t>
            </a:r>
            <a:r>
              <a:rPr lang="ru-RU" sz="2400" b="1" i="1" dirty="0" err="1">
                <a:solidFill>
                  <a:schemeClr val="tx1"/>
                </a:solidFill>
                <a:latin typeface="Times New Roman" panose="02020603050405020304" pitchFamily="18" charset="0"/>
                <a:cs typeface="Times New Roman" panose="02020603050405020304" pitchFamily="18" charset="0"/>
              </a:rPr>
              <a:t>системи</a:t>
            </a:r>
            <a:r>
              <a:rPr lang="ru-RU" sz="2400" b="1" i="1" dirty="0">
                <a:solidFill>
                  <a:schemeClr val="tx1"/>
                </a:solidFill>
                <a:latin typeface="Times New Roman" panose="02020603050405020304" pitchFamily="18" charset="0"/>
                <a:cs typeface="Times New Roman" panose="02020603050405020304" pitchFamily="18" charset="0"/>
              </a:rPr>
              <a:t> </a:t>
            </a:r>
            <a:r>
              <a:rPr lang="ru-RU" sz="2400" b="1" i="1" dirty="0" err="1">
                <a:solidFill>
                  <a:schemeClr val="tx1"/>
                </a:solidFill>
                <a:latin typeface="Times New Roman" panose="02020603050405020304" pitchFamily="18" charset="0"/>
                <a:cs typeface="Times New Roman" panose="02020603050405020304" pitchFamily="18" charset="0"/>
              </a:rPr>
              <a:t>управління</a:t>
            </a:r>
            <a:r>
              <a:rPr lang="ru-RU" sz="2400" b="1" i="1" dirty="0">
                <a:solidFill>
                  <a:schemeClr val="tx1"/>
                </a:solidFill>
                <a:latin typeface="Times New Roman" panose="02020603050405020304" pitchFamily="18" charset="0"/>
                <a:cs typeface="Times New Roman" panose="02020603050405020304" pitchFamily="18" charset="0"/>
              </a:rPr>
              <a:t> базами </a:t>
            </a:r>
            <a:r>
              <a:rPr lang="ru-RU" sz="2400" b="1" i="1" dirty="0" err="1">
                <a:solidFill>
                  <a:schemeClr val="tx1"/>
                </a:solidFill>
                <a:latin typeface="Times New Roman" panose="02020603050405020304" pitchFamily="18" charset="0"/>
                <a:cs typeface="Times New Roman" panose="02020603050405020304" pitchFamily="18" charset="0"/>
              </a:rPr>
              <a:t>даних</a:t>
            </a:r>
            <a:r>
              <a:rPr lang="ru-RU" sz="2400" b="1" i="1" dirty="0">
                <a:solidFill>
                  <a:schemeClr val="tx1"/>
                </a:solidFill>
                <a:latin typeface="Times New Roman" panose="02020603050405020304" pitchFamily="18" charset="0"/>
                <a:cs typeface="Times New Roman" panose="02020603050405020304" pitchFamily="18" charset="0"/>
              </a:rPr>
              <a:t> </a:t>
            </a:r>
            <a:endParaRPr lang="uk-UA" sz="2400" b="1" i="1" dirty="0">
              <a:solidFill>
                <a:schemeClr val="tx1"/>
              </a:solidFill>
              <a:latin typeface="Times New Roman" panose="02020603050405020304" pitchFamily="18" charset="0"/>
              <a:cs typeface="Times New Roman" panose="02020603050405020304" pitchFamily="18" charset="0"/>
            </a:endParaRPr>
          </a:p>
        </p:txBody>
      </p:sp>
      <p:sp>
        <p:nvSpPr>
          <p:cNvPr id="5" name="Скругленный прямоугольник 4"/>
          <p:cNvSpPr/>
          <p:nvPr/>
        </p:nvSpPr>
        <p:spPr>
          <a:xfrm>
            <a:off x="4951562" y="478767"/>
            <a:ext cx="7013276" cy="1608825"/>
          </a:xfrm>
          <a:prstGeom prst="roundRect">
            <a:avLst/>
          </a:prstGeom>
          <a:solidFill>
            <a:schemeClr val="accent2">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i="1" dirty="0">
                <a:solidFill>
                  <a:schemeClr val="tx1"/>
                </a:solidFill>
                <a:latin typeface="Times New Roman" panose="02020603050405020304" pitchFamily="18" charset="0"/>
                <a:cs typeface="Times New Roman" panose="02020603050405020304" pitchFamily="18" charset="0"/>
              </a:rPr>
              <a:t>PostgreSQL. </a:t>
            </a:r>
            <a:r>
              <a:rPr lang="uk-UA" b="1" i="1" dirty="0">
                <a:solidFill>
                  <a:schemeClr val="tx1"/>
                </a:solidFill>
                <a:latin typeface="Times New Roman" panose="02020603050405020304" pitchFamily="18" charset="0"/>
                <a:cs typeface="Times New Roman" panose="02020603050405020304" pitchFamily="18" charset="0"/>
              </a:rPr>
              <a:t>Безкоштовна об'єктно-реляційна система управління базами даних. Вона є однією з найбільш просунутих СУБД, що в першу чергу орієнтується на повну відповідність стандартам та можливості розширення, тобто повністю намагається відповідати </a:t>
            </a:r>
            <a:r>
              <a:rPr lang="en-US" b="1" i="1" dirty="0">
                <a:solidFill>
                  <a:schemeClr val="tx1"/>
                </a:solidFill>
                <a:latin typeface="Times New Roman" panose="02020603050405020304" pitchFamily="18" charset="0"/>
                <a:cs typeface="Times New Roman" panose="02020603050405020304" pitchFamily="18" charset="0"/>
              </a:rPr>
              <a:t>SQL–</a:t>
            </a:r>
            <a:r>
              <a:rPr lang="uk-UA" b="1" i="1" dirty="0">
                <a:solidFill>
                  <a:schemeClr val="tx1"/>
                </a:solidFill>
                <a:latin typeface="Times New Roman" panose="02020603050405020304" pitchFamily="18" charset="0"/>
                <a:cs typeface="Times New Roman" panose="02020603050405020304" pitchFamily="18" charset="0"/>
              </a:rPr>
              <a:t>стандартам </a:t>
            </a:r>
            <a:r>
              <a:rPr lang="en-US" b="1" i="1" dirty="0">
                <a:solidFill>
                  <a:schemeClr val="tx1"/>
                </a:solidFill>
                <a:latin typeface="Times New Roman" panose="02020603050405020304" pitchFamily="18" charset="0"/>
                <a:cs typeface="Times New Roman" panose="02020603050405020304" pitchFamily="18" charset="0"/>
              </a:rPr>
              <a:t>ANSI/ISO.</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6" name="Скругленный прямоугольник 5"/>
          <p:cNvSpPr/>
          <p:nvPr/>
        </p:nvSpPr>
        <p:spPr>
          <a:xfrm>
            <a:off x="163902" y="2225615"/>
            <a:ext cx="11800936" cy="1846054"/>
          </a:xfrm>
          <a:prstGeom prst="roundRect">
            <a:avLst/>
          </a:prstGeom>
          <a:solidFill>
            <a:schemeClr val="accent1">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i="1" dirty="0">
                <a:solidFill>
                  <a:schemeClr val="tx1"/>
                </a:solidFill>
                <a:latin typeface="Times New Roman" panose="02020603050405020304" pitchFamily="18" charset="0"/>
                <a:cs typeface="Times New Roman" panose="02020603050405020304" pitchFamily="18" charset="0"/>
              </a:rPr>
              <a:t>Oracle Database </a:t>
            </a:r>
            <a:r>
              <a:rPr lang="uk-UA" b="1" i="1" dirty="0">
                <a:solidFill>
                  <a:schemeClr val="tx1"/>
                </a:solidFill>
                <a:latin typeface="Times New Roman" panose="02020603050405020304" pitchFamily="18" charset="0"/>
                <a:cs typeface="Times New Roman" panose="02020603050405020304" pitchFamily="18" charset="0"/>
              </a:rPr>
              <a:t>або </a:t>
            </a:r>
            <a:r>
              <a:rPr lang="en-US" b="1" i="1" dirty="0">
                <a:solidFill>
                  <a:schemeClr val="tx1"/>
                </a:solidFill>
                <a:latin typeface="Times New Roman" panose="02020603050405020304" pitchFamily="18" charset="0"/>
                <a:cs typeface="Times New Roman" panose="02020603050405020304" pitchFamily="18" charset="0"/>
              </a:rPr>
              <a:t>Oracle RDBMS. </a:t>
            </a:r>
            <a:r>
              <a:rPr lang="uk-UA" b="1" i="1" dirty="0">
                <a:solidFill>
                  <a:schemeClr val="tx1"/>
                </a:solidFill>
                <a:latin typeface="Times New Roman" panose="02020603050405020304" pitchFamily="18" charset="0"/>
                <a:cs typeface="Times New Roman" panose="02020603050405020304" pitchFamily="18" charset="0"/>
              </a:rPr>
              <a:t>Об'єктно-реляційна система управління базами даних компанії </a:t>
            </a:r>
            <a:r>
              <a:rPr lang="en-US" b="1" i="1" dirty="0">
                <a:solidFill>
                  <a:schemeClr val="tx1"/>
                </a:solidFill>
                <a:latin typeface="Times New Roman" panose="02020603050405020304" pitchFamily="18" charset="0"/>
                <a:cs typeface="Times New Roman" panose="02020603050405020304" pitchFamily="18" charset="0"/>
              </a:rPr>
              <a:t>Oracle Corporation. </a:t>
            </a:r>
            <a:r>
              <a:rPr lang="uk-UA" b="1" i="1" dirty="0">
                <a:solidFill>
                  <a:schemeClr val="tx1"/>
                </a:solidFill>
                <a:latin typeface="Times New Roman" panose="02020603050405020304" pitchFamily="18" charset="0"/>
                <a:cs typeface="Times New Roman" panose="02020603050405020304" pitchFamily="18" charset="0"/>
              </a:rPr>
              <a:t>Ця СУБД забезпечує ефективне, надійне і безпечне управління даними таких критично важливих для бізнесу додатків, як онлайн середовища, виконує масштабну обробку транзакцій (</a:t>
            </a:r>
            <a:r>
              <a:rPr lang="en-US" b="1" i="1" dirty="0">
                <a:solidFill>
                  <a:schemeClr val="tx1"/>
                </a:solidFill>
                <a:latin typeface="Times New Roman" panose="02020603050405020304" pitchFamily="18" charset="0"/>
                <a:cs typeface="Times New Roman" panose="02020603050405020304" pitchFamily="18" charset="0"/>
              </a:rPr>
              <a:t>OLTP), </a:t>
            </a:r>
            <a:r>
              <a:rPr lang="uk-UA" b="1" i="1" dirty="0">
                <a:solidFill>
                  <a:schemeClr val="tx1"/>
                </a:solidFill>
                <a:latin typeface="Times New Roman" panose="02020603050405020304" pitchFamily="18" charset="0"/>
                <a:cs typeface="Times New Roman" panose="02020603050405020304" pitchFamily="18" charset="0"/>
              </a:rPr>
              <a:t>сховища даних з високою інтенсивністю потоку запитів, а також </a:t>
            </a:r>
            <a:r>
              <a:rPr lang="uk-UA" b="1" i="1" dirty="0" err="1">
                <a:solidFill>
                  <a:schemeClr val="tx1"/>
                </a:solidFill>
                <a:latin typeface="Times New Roman" panose="02020603050405020304" pitchFamily="18" charset="0"/>
                <a:cs typeface="Times New Roman" panose="02020603050405020304" pitchFamily="18" charset="0"/>
              </a:rPr>
              <a:t>ресурсоємні</a:t>
            </a:r>
            <a:r>
              <a:rPr lang="uk-UA" b="1" i="1" dirty="0">
                <a:solidFill>
                  <a:schemeClr val="tx1"/>
                </a:solidFill>
                <a:latin typeface="Times New Roman" panose="02020603050405020304" pitchFamily="18" charset="0"/>
                <a:cs typeface="Times New Roman" panose="02020603050405020304" pitchFamily="18" charset="0"/>
              </a:rPr>
              <a:t> інтернет-додатки. Редакція </a:t>
            </a:r>
            <a:r>
              <a:rPr lang="en-US" b="1" i="1" dirty="0">
                <a:solidFill>
                  <a:schemeClr val="tx1"/>
                </a:solidFill>
                <a:latin typeface="Times New Roman" panose="02020603050405020304" pitchFamily="18" charset="0"/>
                <a:cs typeface="Times New Roman" panose="02020603050405020304" pitchFamily="18" charset="0"/>
              </a:rPr>
              <a:t>Oracle Database Enterprise Edition </a:t>
            </a:r>
            <a:r>
              <a:rPr lang="uk-UA" b="1" i="1" dirty="0">
                <a:solidFill>
                  <a:schemeClr val="tx1"/>
                </a:solidFill>
                <a:latin typeface="Times New Roman" panose="02020603050405020304" pitchFamily="18" charset="0"/>
                <a:cs typeface="Times New Roman" panose="02020603050405020304" pitchFamily="18" charset="0"/>
              </a:rPr>
              <a:t>надає інструментальні засоби і функції, що забезпечують відповідність вимогам сучасних корпоративних додатків в області доступності та масштабованості.</a:t>
            </a:r>
          </a:p>
        </p:txBody>
      </p:sp>
      <p:sp>
        <p:nvSpPr>
          <p:cNvPr id="7" name="Скругленный прямоугольник 6"/>
          <p:cNvSpPr/>
          <p:nvPr/>
        </p:nvSpPr>
        <p:spPr>
          <a:xfrm>
            <a:off x="163902" y="4209693"/>
            <a:ext cx="11800936" cy="1742534"/>
          </a:xfrm>
          <a:prstGeom prst="roundRect">
            <a:avLst/>
          </a:prstGeom>
          <a:solidFill>
            <a:schemeClr val="accent1">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b="1" i="1" dirty="0">
                <a:solidFill>
                  <a:schemeClr val="tx1"/>
                </a:solidFill>
                <a:latin typeface="Times New Roman" panose="02020603050405020304" pitchFamily="18" charset="0"/>
                <a:cs typeface="Times New Roman" panose="02020603050405020304" pitchFamily="18" charset="0"/>
              </a:rPr>
              <a:t>Microsoft SQL Server. </a:t>
            </a:r>
            <a:r>
              <a:rPr lang="uk-UA" b="1" i="1" dirty="0">
                <a:solidFill>
                  <a:schemeClr val="tx1"/>
                </a:solidFill>
                <a:latin typeface="Times New Roman" panose="02020603050405020304" pitchFamily="18" charset="0"/>
                <a:cs typeface="Times New Roman" panose="02020603050405020304" pitchFamily="18" charset="0"/>
              </a:rPr>
              <a:t>Система </a:t>
            </a:r>
            <a:r>
              <a:rPr lang="en-US" b="1" i="1" dirty="0">
                <a:solidFill>
                  <a:schemeClr val="tx1"/>
                </a:solidFill>
                <a:latin typeface="Times New Roman" panose="02020603050405020304" pitchFamily="18" charset="0"/>
                <a:cs typeface="Times New Roman" panose="02020603050405020304" pitchFamily="18" charset="0"/>
              </a:rPr>
              <a:t>Microsoft SQL Server </a:t>
            </a:r>
            <a:r>
              <a:rPr lang="uk-UA" b="1" i="1" dirty="0">
                <a:solidFill>
                  <a:schemeClr val="tx1"/>
                </a:solidFill>
                <a:latin typeface="Times New Roman" panose="02020603050405020304" pitchFamily="18" charset="0"/>
                <a:cs typeface="Times New Roman" panose="02020603050405020304" pitchFamily="18" charset="0"/>
              </a:rPr>
              <a:t>відштовхується від концепції платформи даних Майкрософт: вона спрощує управління будь-якими даними в будь-якому місці і в будь-який момент часу. Вона дозволяє зберігати в базах даних інформацію, отриману з структурованих, </a:t>
            </a:r>
            <a:r>
              <a:rPr lang="uk-UA" b="1" i="1" dirty="0" err="1">
                <a:solidFill>
                  <a:schemeClr val="tx1"/>
                </a:solidFill>
                <a:latin typeface="Times New Roman" panose="02020603050405020304" pitchFamily="18" charset="0"/>
                <a:cs typeface="Times New Roman" panose="02020603050405020304" pitchFamily="18" charset="0"/>
              </a:rPr>
              <a:t>напівструктурованих</a:t>
            </a:r>
            <a:r>
              <a:rPr lang="uk-UA" b="1" i="1" dirty="0">
                <a:solidFill>
                  <a:schemeClr val="tx1"/>
                </a:solidFill>
                <a:latin typeface="Times New Roman" panose="02020603050405020304" pitchFamily="18" charset="0"/>
                <a:cs typeface="Times New Roman" panose="02020603050405020304" pitchFamily="18" charset="0"/>
              </a:rPr>
              <a:t> і неструктурованих джерел, таких як зображення та музика. У </a:t>
            </a:r>
            <a:r>
              <a:rPr lang="en-US" b="1" i="1" dirty="0">
                <a:solidFill>
                  <a:schemeClr val="tx1"/>
                </a:solidFill>
                <a:latin typeface="Times New Roman" panose="02020603050405020304" pitchFamily="18" charset="0"/>
                <a:cs typeface="Times New Roman" panose="02020603050405020304" pitchFamily="18" charset="0"/>
              </a:rPr>
              <a:t>SQL Server </a:t>
            </a:r>
            <a:r>
              <a:rPr lang="uk-UA" b="1" i="1" dirty="0">
                <a:solidFill>
                  <a:schemeClr val="tx1"/>
                </a:solidFill>
                <a:latin typeface="Times New Roman" panose="02020603050405020304" pitchFamily="18" charset="0"/>
                <a:cs typeface="Times New Roman" panose="02020603050405020304" pitchFamily="18" charset="0"/>
              </a:rPr>
              <a:t>є великий набір інтегрованих служб, які розширюють можливості використання даних: можна складати запити, виконувати пошук, проводити синхронізацію, робити звіти, аналізувати дані.</a:t>
            </a:r>
          </a:p>
        </p:txBody>
      </p:sp>
    </p:spTree>
    <p:extLst>
      <p:ext uri="{BB962C8B-B14F-4D97-AF65-F5344CB8AC3E}">
        <p14:creationId xmlns:p14="http://schemas.microsoft.com/office/powerpoint/2010/main" val="693736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вал 3"/>
          <p:cNvSpPr/>
          <p:nvPr/>
        </p:nvSpPr>
        <p:spPr>
          <a:xfrm>
            <a:off x="0" y="86262"/>
            <a:ext cx="2510287" cy="871269"/>
          </a:xfrm>
          <a:prstGeom prst="ellipse">
            <a:avLst/>
          </a:prstGeom>
          <a:solidFill>
            <a:schemeClr val="accent4">
              <a:lumMod val="40000"/>
              <a:lumOff val="6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uk-UA" sz="2200" b="1" i="1" dirty="0">
                <a:solidFill>
                  <a:schemeClr val="tx1"/>
                </a:solidFill>
                <a:latin typeface="Times New Roman" panose="02020603050405020304" pitchFamily="18" charset="0"/>
                <a:cs typeface="Times New Roman" panose="02020603050405020304" pitchFamily="18" charset="0"/>
              </a:rPr>
              <a:t>ВИСНОВОК</a:t>
            </a:r>
          </a:p>
        </p:txBody>
      </p:sp>
      <p:sp>
        <p:nvSpPr>
          <p:cNvPr id="5" name="Скругленный прямоугольник 4"/>
          <p:cNvSpPr/>
          <p:nvPr/>
        </p:nvSpPr>
        <p:spPr>
          <a:xfrm>
            <a:off x="2613804" y="86264"/>
            <a:ext cx="9489056" cy="1966824"/>
          </a:xfrm>
          <a:prstGeom prst="roundRect">
            <a:avLst/>
          </a:prstGeom>
          <a:solidFill>
            <a:schemeClr val="accent6">
              <a:lumMod val="40000"/>
              <a:lumOff val="6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Впровадження автоматизованої інформаційної системи управління дозволить усунути такі проблеми, як: відсутність інформації про розмір виручки (товарообороту), незнання персоналом асортименту та цін, відсутність інформації про товарний запас, відсутність контролю підзвітних засобів, тощо завдяки забезпеченню повною інформацією про рух товарів, грошових ресурсів, результативність діяльності ресторану, прозорості роботи персоналу, чіткого контролю за його діями та результатами, формуванню єдиної системи обліку, бази даних </a:t>
            </a:r>
            <a:r>
              <a:rPr lang="uk-UA" b="1" i="1" dirty="0" smtClean="0">
                <a:solidFill>
                  <a:schemeClr val="tx1"/>
                </a:solidFill>
                <a:latin typeface="Times New Roman" panose="02020603050405020304" pitchFamily="18" charset="0"/>
                <a:cs typeface="Times New Roman" panose="02020603050405020304" pitchFamily="18" charset="0"/>
              </a:rPr>
              <a:t>тощо.</a:t>
            </a:r>
            <a:endParaRPr lang="uk-UA" b="1" i="1" dirty="0">
              <a:solidFill>
                <a:schemeClr val="tx1"/>
              </a:solidFill>
              <a:latin typeface="Times New Roman" panose="02020603050405020304" pitchFamily="18" charset="0"/>
              <a:cs typeface="Times New Roman" panose="02020603050405020304" pitchFamily="18" charset="0"/>
            </a:endParaRPr>
          </a:p>
        </p:txBody>
      </p:sp>
      <p:sp>
        <p:nvSpPr>
          <p:cNvPr id="6" name="Скругленный прямоугольник 5"/>
          <p:cNvSpPr/>
          <p:nvPr/>
        </p:nvSpPr>
        <p:spPr>
          <a:xfrm>
            <a:off x="77640" y="2130726"/>
            <a:ext cx="12025220" cy="4546120"/>
          </a:xfrm>
          <a:prstGeom prst="roundRect">
            <a:avLst/>
          </a:prstGeom>
          <a:solidFill>
            <a:srgbClr val="F989D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uk-UA" b="1" i="1" dirty="0">
                <a:solidFill>
                  <a:schemeClr val="tx1"/>
                </a:solidFill>
                <a:latin typeface="Times New Roman" panose="02020603050405020304" pitchFamily="18" charset="0"/>
                <a:cs typeface="Times New Roman" panose="02020603050405020304" pitchFamily="18" charset="0"/>
              </a:rPr>
              <a:t>Формування цілісної системи автоматизації у закладах ресторанного бізнесу дозволяє максимально удосконалити та спростити механізм управління комплексом бізнес-процесів, а саме: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скоротити </a:t>
            </a:r>
            <a:r>
              <a:rPr lang="uk-UA" b="1" i="1" dirty="0">
                <a:solidFill>
                  <a:schemeClr val="tx1"/>
                </a:solidFill>
                <a:latin typeface="Times New Roman" panose="02020603050405020304" pitchFamily="18" charset="0"/>
                <a:cs typeface="Times New Roman" panose="02020603050405020304" pitchFamily="18" charset="0"/>
              </a:rPr>
              <a:t>та оптимізувати витрати, збільшити швидкість обробки та надходження інформації; </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встановити </a:t>
            </a:r>
            <a:r>
              <a:rPr lang="uk-UA" b="1" i="1" dirty="0">
                <a:solidFill>
                  <a:schemeClr val="tx1"/>
                </a:solidFill>
                <a:latin typeface="Times New Roman" panose="02020603050405020304" pitchFamily="18" charset="0"/>
                <a:cs typeface="Times New Roman" panose="02020603050405020304" pitchFamily="18" charset="0"/>
              </a:rPr>
              <a:t>повний або частковий контроль над бізнес-процесами на підприємстві (кухня, бар, ресторан); </a:t>
            </a:r>
            <a:endParaRPr lang="uk-UA"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економити </a:t>
            </a:r>
            <a:r>
              <a:rPr lang="uk-UA" b="1" i="1" dirty="0">
                <a:solidFill>
                  <a:schemeClr val="tx1"/>
                </a:solidFill>
                <a:latin typeface="Times New Roman" panose="02020603050405020304" pitchFamily="18" charset="0"/>
                <a:cs typeface="Times New Roman" panose="02020603050405020304" pitchFamily="18" charset="0"/>
              </a:rPr>
              <a:t>власний та робочий час працівників</a:t>
            </a:r>
            <a:r>
              <a:rPr lang="uk-UA" b="1" i="1" dirty="0" smtClean="0">
                <a:solidFill>
                  <a:schemeClr val="tx1"/>
                </a:solidFill>
                <a:latin typeface="Times New Roman" panose="02020603050405020304" pitchFamily="18" charset="0"/>
                <a:cs typeface="Times New Roman" panose="02020603050405020304" pitchFamily="18" charset="0"/>
              </a:rPr>
              <a:t>;</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зменшити </a:t>
            </a:r>
            <a:r>
              <a:rPr lang="uk-UA" b="1" i="1" dirty="0">
                <a:solidFill>
                  <a:schemeClr val="tx1"/>
                </a:solidFill>
                <a:latin typeface="Times New Roman" panose="02020603050405020304" pitchFamily="18" charset="0"/>
                <a:cs typeface="Times New Roman" panose="02020603050405020304" pitchFamily="18" charset="0"/>
              </a:rPr>
              <a:t>кількість помилок при складанні первинних документів; </a:t>
            </a:r>
            <a:endParaRPr lang="uk-UA"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вести </a:t>
            </a:r>
            <a:r>
              <a:rPr lang="uk-UA" b="1" i="1" dirty="0">
                <a:solidFill>
                  <a:schemeClr val="tx1"/>
                </a:solidFill>
                <a:latin typeface="Times New Roman" panose="02020603050405020304" pitchFamily="18" charset="0"/>
                <a:cs typeface="Times New Roman" panose="02020603050405020304" pitchFamily="18" charset="0"/>
              </a:rPr>
              <a:t>регламентний та управлінський облік в єдиній інформаційній базі; </a:t>
            </a:r>
            <a:endParaRPr lang="uk-UA"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здійснювати </a:t>
            </a:r>
            <a:r>
              <a:rPr lang="uk-UA" b="1" i="1" dirty="0">
                <a:solidFill>
                  <a:schemeClr val="tx1"/>
                </a:solidFill>
                <a:latin typeface="Times New Roman" panose="02020603050405020304" pitchFamily="18" charset="0"/>
                <a:cs typeface="Times New Roman" panose="02020603050405020304" pitchFamily="18" charset="0"/>
              </a:rPr>
              <a:t>обмін даними з різними «фронт-офісними» системами; </a:t>
            </a:r>
            <a:endParaRPr lang="uk-UA"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спростити </a:t>
            </a:r>
            <a:r>
              <a:rPr lang="uk-UA" b="1" i="1" dirty="0">
                <a:solidFill>
                  <a:schemeClr val="tx1"/>
                </a:solidFill>
                <a:latin typeface="Times New Roman" panose="02020603050405020304" pitchFamily="18" charset="0"/>
                <a:cs typeface="Times New Roman" panose="02020603050405020304" pitchFamily="18" charset="0"/>
              </a:rPr>
              <a:t>роботу з дисконтними і клубними картами; </a:t>
            </a:r>
            <a:endParaRPr lang="uk-UA"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формувати </a:t>
            </a:r>
            <a:r>
              <a:rPr lang="uk-UA" b="1" i="1" dirty="0">
                <a:solidFill>
                  <a:schemeClr val="tx1"/>
                </a:solidFill>
                <a:latin typeface="Times New Roman" panose="02020603050405020304" pitchFamily="18" charset="0"/>
                <a:cs typeface="Times New Roman" panose="02020603050405020304" pitchFamily="18" charset="0"/>
              </a:rPr>
              <a:t>різноаспектну звітність (управлінський баланс, стан замовлень покупців і постачальникам, валовий прибуток, виручка від реалізації тощо</a:t>
            </a:r>
            <a:r>
              <a:rPr lang="uk-UA" b="1" i="1" dirty="0" smtClean="0">
                <a:solidFill>
                  <a:schemeClr val="tx1"/>
                </a:solidFill>
                <a:latin typeface="Times New Roman" panose="02020603050405020304" pitchFamily="18" charset="0"/>
                <a:cs typeface="Times New Roman" panose="02020603050405020304" pitchFamily="18" charset="0"/>
              </a:rPr>
              <a:t>);</a:t>
            </a: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підвищити </a:t>
            </a:r>
            <a:r>
              <a:rPr lang="uk-UA" b="1" i="1" dirty="0">
                <a:solidFill>
                  <a:schemeClr val="tx1"/>
                </a:solidFill>
                <a:latin typeface="Times New Roman" panose="02020603050405020304" pitchFamily="18" charset="0"/>
                <a:cs typeface="Times New Roman" panose="02020603050405020304" pitchFamily="18" charset="0"/>
              </a:rPr>
              <a:t>якість сервісу, престиж закладу і лояльність клієнтів; </a:t>
            </a:r>
            <a:endParaRPr lang="uk-UA"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забезпечити </a:t>
            </a:r>
            <a:r>
              <a:rPr lang="uk-UA" b="1" i="1" dirty="0">
                <a:solidFill>
                  <a:schemeClr val="tx1"/>
                </a:solidFill>
                <a:latin typeface="Times New Roman" panose="02020603050405020304" pitchFamily="18" charset="0"/>
                <a:cs typeface="Times New Roman" panose="02020603050405020304" pitchFamily="18" charset="0"/>
              </a:rPr>
              <a:t>швидку обробку замовлень і обслуговування клієнтів; </a:t>
            </a:r>
            <a:endParaRPr lang="uk-UA"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покращити </a:t>
            </a:r>
            <a:r>
              <a:rPr lang="uk-UA" b="1" i="1" dirty="0">
                <a:solidFill>
                  <a:schemeClr val="tx1"/>
                </a:solidFill>
                <a:latin typeface="Times New Roman" panose="02020603050405020304" pitchFamily="18" charset="0"/>
                <a:cs typeface="Times New Roman" panose="02020603050405020304" pitchFamily="18" charset="0"/>
              </a:rPr>
              <a:t>узгодженість і контроль над роботою персоналу; </a:t>
            </a:r>
            <a:endParaRPr lang="uk-UA" b="1" i="1"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Courier New" panose="02070309020205020404" pitchFamily="49" charset="0"/>
              <a:buChar char="o"/>
            </a:pPr>
            <a:r>
              <a:rPr lang="uk-UA" b="1" i="1" dirty="0" smtClean="0">
                <a:solidFill>
                  <a:schemeClr val="tx1"/>
                </a:solidFill>
                <a:latin typeface="Times New Roman" panose="02020603050405020304" pitchFamily="18" charset="0"/>
                <a:cs typeface="Times New Roman" panose="02020603050405020304" pitchFamily="18" charset="0"/>
              </a:rPr>
              <a:t>вести </a:t>
            </a:r>
            <a:r>
              <a:rPr lang="uk-UA" b="1" i="1" dirty="0">
                <a:solidFill>
                  <a:schemeClr val="tx1"/>
                </a:solidFill>
                <a:latin typeface="Times New Roman" panose="02020603050405020304" pitchFamily="18" charset="0"/>
                <a:cs typeface="Times New Roman" panose="02020603050405020304" pitchFamily="18" charset="0"/>
              </a:rPr>
              <a:t>безперервний моніторинг роботи всіх структур закладу, аналіз та прогнозування результатів діяльності ресторану у цілому.</a:t>
            </a:r>
          </a:p>
        </p:txBody>
      </p:sp>
    </p:spTree>
    <p:extLst>
      <p:ext uri="{BB962C8B-B14F-4D97-AF65-F5344CB8AC3E}">
        <p14:creationId xmlns:p14="http://schemas.microsoft.com/office/powerpoint/2010/main" val="2375841062"/>
      </p:ext>
    </p:extLst>
  </p:cSld>
  <p:clrMapOvr>
    <a:masterClrMapping/>
  </p:clrMapOvr>
</p:sld>
</file>

<file path=ppt/theme/theme1.xml><?xml version="1.0" encoding="utf-8"?>
<a:theme xmlns:a="http://schemas.openxmlformats.org/drawingml/2006/main" name="Капля">
  <a:themeElements>
    <a:clrScheme name="Капл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Капля">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Капл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TM04033925[[fn=Капля]]</Template>
  <TotalTime>152</TotalTime>
  <Words>1887</Words>
  <Application>Microsoft Office PowerPoint</Application>
  <PresentationFormat>Широкоэкранный</PresentationFormat>
  <Paragraphs>125</Paragraphs>
  <Slides>16</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16</vt:i4>
      </vt:variant>
    </vt:vector>
  </HeadingPairs>
  <TitlesOfParts>
    <vt:vector size="22" baseType="lpstr">
      <vt:lpstr>Arial</vt:lpstr>
      <vt:lpstr>Courier New</vt:lpstr>
      <vt:lpstr>Times New Roman</vt:lpstr>
      <vt:lpstr>Tw Cen MT</vt:lpstr>
      <vt:lpstr>Wingdings</vt:lpstr>
      <vt:lpstr>Капля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 Windows</dc:creator>
  <cp:lastModifiedBy>Пользователь Windows</cp:lastModifiedBy>
  <cp:revision>16</cp:revision>
  <dcterms:created xsi:type="dcterms:W3CDTF">2020-05-24T10:18:15Z</dcterms:created>
  <dcterms:modified xsi:type="dcterms:W3CDTF">2020-05-24T12:50:36Z</dcterms:modified>
</cp:coreProperties>
</file>